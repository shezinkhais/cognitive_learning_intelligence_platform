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8" r:id="rId2"/>
    <p:sldId id="412" r:id="rId3"/>
    <p:sldId id="413" r:id="rId4"/>
    <p:sldId id="414" r:id="rId5"/>
    <p:sldId id="415" r:id="rId6"/>
    <p:sldId id="416" r:id="rId7"/>
    <p:sldId id="257" r:id="rId8"/>
    <p:sldId id="417" r:id="rId9"/>
    <p:sldId id="259" r:id="rId10"/>
    <p:sldId id="260" r:id="rId11"/>
    <p:sldId id="261" r:id="rId12"/>
    <p:sldId id="262" r:id="rId13"/>
    <p:sldId id="263" r:id="rId14"/>
    <p:sldId id="418" r:id="rId15"/>
    <p:sldId id="265" r:id="rId16"/>
    <p:sldId id="266" r:id="rId17"/>
    <p:sldId id="419" r:id="rId18"/>
    <p:sldId id="26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0001"/>
    <a:srgbClr val="0C2340"/>
    <a:srgbClr val="E10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 d="1"/>
        <a:sy n="1" d="1"/>
      </p:scale>
      <p:origin x="0" y="0"/>
    </p:cViewPr>
  </p:notesTextViewPr>
  <p:notesViewPr>
    <p:cSldViewPr>
      <p:cViewPr varScale="1">
        <p:scale>
          <a:sx n="87" d="100"/>
          <a:sy n="87" d="100"/>
        </p:scale>
        <p:origin x="376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6DCD6A-3AC5-41B3-A817-B3FEFDE3AC69}" type="datetimeFigureOut">
              <a:rPr lang="en-US" smtClean="0"/>
              <a:t>2/9/2023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EDB628-015A-45EA-91E6-7F4E7305A09A}" type="slidenum">
              <a:rPr lang="en-US" smtClean="0"/>
              <a:t>‹#›</a:t>
            </a:fld>
            <a:endParaRPr lang="en-US"/>
          </a:p>
        </p:txBody>
      </p:sp>
    </p:spTree>
    <p:extLst>
      <p:ext uri="{BB962C8B-B14F-4D97-AF65-F5344CB8AC3E}">
        <p14:creationId xmlns:p14="http://schemas.microsoft.com/office/powerpoint/2010/main" val="1627872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88F0F38C-DCF8-4E0B-9ECA-1CCCD49BF889}"/>
              </a:ext>
            </a:extLst>
          </p:cNvPr>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a:extLst>
              <a:ext uri="{FF2B5EF4-FFF2-40B4-BE49-F238E27FC236}">
                <a16:creationId xmlns:a16="http://schemas.microsoft.com/office/drawing/2014/main" id="{A1DC2E7D-0753-42C6-A807-653C182028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solidFill>
                  <a:srgbClr val="0125FF"/>
                </a:solidFill>
              </a:rPr>
              <a:t>Pulse.csv datafile</a:t>
            </a:r>
            <a:endParaRPr lang="en-US" altLang="en-US"/>
          </a:p>
        </p:txBody>
      </p:sp>
      <p:sp>
        <p:nvSpPr>
          <p:cNvPr id="20483" name="Slide Number Placeholder 3">
            <a:extLst>
              <a:ext uri="{FF2B5EF4-FFF2-40B4-BE49-F238E27FC236}">
                <a16:creationId xmlns:a16="http://schemas.microsoft.com/office/drawing/2014/main" id="{0AD4CCC1-D8FE-4572-9C2A-D20F500F142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7D9CA42-89C5-42EC-8502-F651CE42243A}" type="slidenum">
              <a:rPr lang="en-US" altLang="en-US" sz="1200"/>
              <a:pPr/>
              <a:t>8</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085F0C1F-A254-4EC1-932C-0F687C9066A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0" name="Notes Placeholder 2">
            <a:extLst>
              <a:ext uri="{FF2B5EF4-FFF2-40B4-BE49-F238E27FC236}">
                <a16:creationId xmlns:a16="http://schemas.microsoft.com/office/drawing/2014/main" id="{905A2D71-C237-4940-9D1E-7E44F3A803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&gt; plot(Pulse$Gender~Pulse$Hgt)</a:t>
            </a:r>
          </a:p>
          <a:p>
            <a:r>
              <a:rPr lang="en-US" altLang="en-US"/>
              <a:t>&gt; abline(regmodel)</a:t>
            </a:r>
          </a:p>
        </p:txBody>
      </p:sp>
      <p:sp>
        <p:nvSpPr>
          <p:cNvPr id="22531" name="Slide Number Placeholder 3">
            <a:extLst>
              <a:ext uri="{FF2B5EF4-FFF2-40B4-BE49-F238E27FC236}">
                <a16:creationId xmlns:a16="http://schemas.microsoft.com/office/drawing/2014/main" id="{5BF29F75-BB53-43F7-BEF7-BD9FA3202D5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73BB256-DAE5-4F9C-A363-774D347B3CF2}" type="slidenum">
              <a:rPr lang="en-US" altLang="en-US" sz="1200">
                <a:solidFill>
                  <a:srgbClr val="FFFF66"/>
                </a:solidFill>
                <a:latin typeface="Times New Roman" panose="02020603050405020304" pitchFamily="18" charset="0"/>
              </a:rPr>
              <a:pPr/>
              <a:t>9</a:t>
            </a:fld>
            <a:endParaRPr lang="en-US" altLang="en-US" sz="1200">
              <a:solidFill>
                <a:srgbClr val="FFFF66"/>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B8BEAD0E-2E13-4988-BBC0-CDD38B7162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6" name="Notes Placeholder 2">
            <a:extLst>
              <a:ext uri="{FF2B5EF4-FFF2-40B4-BE49-F238E27FC236}">
                <a16:creationId xmlns:a16="http://schemas.microsoft.com/office/drawing/2014/main" id="{D5805FCE-7EE6-4211-B9D6-043D4F99EE5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1747" name="Slide Number Placeholder 3">
            <a:extLst>
              <a:ext uri="{FF2B5EF4-FFF2-40B4-BE49-F238E27FC236}">
                <a16:creationId xmlns:a16="http://schemas.microsoft.com/office/drawing/2014/main" id="{ED4C3F97-9BB7-47DF-BAC4-C35A4068875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202F22B-6100-4C44-AC14-8233719AAA7B}" type="slidenum">
              <a:rPr lang="en-US" altLang="en-US" sz="1200">
                <a:solidFill>
                  <a:srgbClr val="FFFF66"/>
                </a:solidFill>
                <a:latin typeface="Times New Roman" panose="02020603050405020304" pitchFamily="18" charset="0"/>
              </a:rPr>
              <a:pPr/>
              <a:t>15</a:t>
            </a:fld>
            <a:endParaRPr lang="en-US" altLang="en-US" sz="1200">
              <a:solidFill>
                <a:srgbClr val="FFFF66"/>
              </a:solidFill>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jpeg"/><Relationship Id="rId7"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jpe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88EB43F-5CE4-874A-B8EE-E9C78D8CE93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3998" y="-18473"/>
            <a:ext cx="9167999" cy="6876473"/>
          </a:xfrm>
          <a:prstGeom prst="rect">
            <a:avLst/>
          </a:prstGeom>
        </p:spPr>
      </p:pic>
      <p:sp>
        <p:nvSpPr>
          <p:cNvPr id="8" name="Rectangle 7">
            <a:extLst>
              <a:ext uri="{FF2B5EF4-FFF2-40B4-BE49-F238E27FC236}">
                <a16:creationId xmlns:a16="http://schemas.microsoft.com/office/drawing/2014/main" id="{A7B3DCF1-CE6A-6447-8597-5C4271E1F0F6}"/>
              </a:ext>
            </a:extLst>
          </p:cNvPr>
          <p:cNvSpPr/>
          <p:nvPr userDrawn="1"/>
        </p:nvSpPr>
        <p:spPr>
          <a:xfrm>
            <a:off x="-23998" y="5562000"/>
            <a:ext cx="9168000" cy="864000"/>
          </a:xfrm>
          <a:prstGeom prst="rect">
            <a:avLst/>
          </a:prstGeom>
          <a:solidFill>
            <a:srgbClr val="0C23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Rectangle 2"/>
          <p:cNvSpPr/>
          <p:nvPr userDrawn="1"/>
        </p:nvSpPr>
        <p:spPr>
          <a:xfrm>
            <a:off x="7236296" y="-18473"/>
            <a:ext cx="1792175" cy="1556792"/>
          </a:xfrm>
          <a:prstGeom prst="rect">
            <a:avLst/>
          </a:prstGeom>
          <a:solidFill>
            <a:srgbClr val="0C23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0" name="Graphic 9">
            <a:extLst>
              <a:ext uri="{FF2B5EF4-FFF2-40B4-BE49-F238E27FC236}">
                <a16:creationId xmlns:a16="http://schemas.microsoft.com/office/drawing/2014/main" id="{DB5D9AC3-6F35-1646-9088-6BF2C33BFAA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80312" y="116632"/>
            <a:ext cx="1490500" cy="1229952"/>
          </a:xfrm>
          <a:prstGeom prst="rect">
            <a:avLst/>
          </a:prstGeom>
        </p:spPr>
      </p:pic>
      <p:sp>
        <p:nvSpPr>
          <p:cNvPr id="2" name="Title 1">
            <a:extLst>
              <a:ext uri="{FF2B5EF4-FFF2-40B4-BE49-F238E27FC236}">
                <a16:creationId xmlns:a16="http://schemas.microsoft.com/office/drawing/2014/main" id="{1BEAC243-40FB-0B43-B743-2FCFBC109DEC}"/>
              </a:ext>
            </a:extLst>
          </p:cNvPr>
          <p:cNvSpPr>
            <a:spLocks noGrp="1"/>
          </p:cNvSpPr>
          <p:nvPr>
            <p:ph type="ctrTitle"/>
          </p:nvPr>
        </p:nvSpPr>
        <p:spPr>
          <a:xfrm>
            <a:off x="900000" y="5691600"/>
            <a:ext cx="5760000" cy="604800"/>
          </a:xfrm>
          <a:prstGeom prst="rect">
            <a:avLst/>
          </a:prstGeom>
        </p:spPr>
        <p:txBody>
          <a:bodyPr wrap="none" lIns="0" tIns="0" rIns="0" bIns="0" anchor="ctr"/>
          <a:lstStyle>
            <a:lvl1pPr algn="l">
              <a:defRPr sz="2800" b="1">
                <a:solidFill>
                  <a:schemeClr val="bg1"/>
                </a:solidFill>
                <a:latin typeface="+mj-lt"/>
                <a:cs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2886600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grpSp>
        <p:nvGrpSpPr>
          <p:cNvPr id="14" name="Group 13"/>
          <p:cNvGrpSpPr/>
          <p:nvPr userDrawn="1"/>
        </p:nvGrpSpPr>
        <p:grpSpPr>
          <a:xfrm>
            <a:off x="1" y="-5714"/>
            <a:ext cx="9144000" cy="6891098"/>
            <a:chOff x="-2919010" y="226302"/>
            <a:chExt cx="8201868" cy="6120680"/>
          </a:xfrm>
        </p:grpSpPr>
        <p:pic>
          <p:nvPicPr>
            <p:cNvPr id="2" name="Picture 1"/>
            <p:cNvPicPr>
              <a:picLocks noChangeAspect="1"/>
            </p:cNvPicPr>
            <p:nvPr userDrawn="1"/>
          </p:nvPicPr>
          <p:blipFill rotWithShape="1">
            <a:blip r:embed="rId2" cstate="screen">
              <a:grayscl/>
              <a:extLst>
                <a:ext uri="{28A0092B-C50C-407E-A947-70E740481C1C}">
                  <a14:useLocalDpi xmlns:a14="http://schemas.microsoft.com/office/drawing/2010/main"/>
                </a:ext>
              </a:extLst>
            </a:blip>
            <a:srcRect/>
            <a:stretch/>
          </p:blipFill>
          <p:spPr>
            <a:xfrm>
              <a:off x="3407460" y="226302"/>
              <a:ext cx="1875398" cy="6096000"/>
            </a:xfrm>
            <a:prstGeom prst="rect">
              <a:avLst/>
            </a:prstGeom>
          </p:spPr>
        </p:pic>
        <p:grpSp>
          <p:nvGrpSpPr>
            <p:cNvPr id="13" name="Group 12"/>
            <p:cNvGrpSpPr/>
            <p:nvPr userDrawn="1"/>
          </p:nvGrpSpPr>
          <p:grpSpPr>
            <a:xfrm>
              <a:off x="-2919010" y="226302"/>
              <a:ext cx="6327054" cy="6120680"/>
              <a:chOff x="-2919010" y="226302"/>
              <a:chExt cx="6327054" cy="6120680"/>
            </a:xfrm>
          </p:grpSpPr>
          <p:pic>
            <p:nvPicPr>
              <p:cNvPr id="3" name="Picture 2"/>
              <p:cNvPicPr>
                <a:picLocks noChangeAspect="1"/>
              </p:cNvPicPr>
              <p:nvPr userDrawn="1"/>
            </p:nvPicPr>
            <p:blipFill rotWithShape="1">
              <a:blip r:embed="rId3" cstate="screen">
                <a:grayscl/>
                <a:extLst>
                  <a:ext uri="{28A0092B-C50C-407E-A947-70E740481C1C}">
                    <a14:useLocalDpi xmlns:a14="http://schemas.microsoft.com/office/drawing/2010/main"/>
                  </a:ext>
                </a:extLst>
              </a:blip>
              <a:srcRect t="-50" b="-355"/>
              <a:stretch/>
            </p:blipFill>
            <p:spPr>
              <a:xfrm>
                <a:off x="1272008" y="226302"/>
                <a:ext cx="2136036" cy="6120680"/>
              </a:xfrm>
              <a:prstGeom prst="rect">
                <a:avLst/>
              </a:prstGeom>
            </p:spPr>
          </p:pic>
          <p:grpSp>
            <p:nvGrpSpPr>
              <p:cNvPr id="6" name="Group 5"/>
              <p:cNvGrpSpPr/>
              <p:nvPr userDrawn="1"/>
            </p:nvGrpSpPr>
            <p:grpSpPr>
              <a:xfrm>
                <a:off x="-2919010" y="226302"/>
                <a:ext cx="4191017" cy="6096489"/>
                <a:chOff x="1905526" y="-10413"/>
                <a:chExt cx="4191017" cy="6096489"/>
              </a:xfrm>
            </p:grpSpPr>
            <p:pic>
              <p:nvPicPr>
                <p:cNvPr id="4" name="Picture 3"/>
                <p:cNvPicPr>
                  <a:picLocks noChangeAspect="1"/>
                </p:cNvPicPr>
                <p:nvPr userDrawn="1"/>
              </p:nvPicPr>
              <p:blipFill rotWithShape="1">
                <a:blip r:embed="rId4" cstate="screen">
                  <a:grayscl/>
                  <a:extLst>
                    <a:ext uri="{28A0092B-C50C-407E-A947-70E740481C1C}">
                      <a14:useLocalDpi xmlns:a14="http://schemas.microsoft.com/office/drawing/2010/main"/>
                    </a:ext>
                  </a:extLst>
                </a:blip>
                <a:srcRect/>
                <a:stretch/>
              </p:blipFill>
              <p:spPr>
                <a:xfrm>
                  <a:off x="3968655" y="-10413"/>
                  <a:ext cx="2127888" cy="6096000"/>
                </a:xfrm>
                <a:prstGeom prst="rect">
                  <a:avLst/>
                </a:prstGeom>
              </p:spPr>
            </p:pic>
            <p:pic>
              <p:nvPicPr>
                <p:cNvPr id="5" name="Picture 4"/>
                <p:cNvPicPr>
                  <a:picLocks noChangeAspect="1"/>
                </p:cNvPicPr>
                <p:nvPr userDrawn="1"/>
              </p:nvPicPr>
              <p:blipFill rotWithShape="1">
                <a:blip r:embed="rId5" cstate="screen">
                  <a:grayscl/>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a:ext>
                  </a:extLst>
                </a:blip>
                <a:srcRect l="38739" r="38700"/>
                <a:stretch/>
              </p:blipFill>
              <p:spPr>
                <a:xfrm>
                  <a:off x="1905526" y="-10413"/>
                  <a:ext cx="2063128" cy="6096489"/>
                </a:xfrm>
                <a:prstGeom prst="rect">
                  <a:avLst/>
                </a:prstGeom>
              </p:spPr>
            </p:pic>
          </p:grpSp>
        </p:grpSp>
      </p:grpSp>
      <p:sp>
        <p:nvSpPr>
          <p:cNvPr id="16" name="Rectangle 15">
            <a:extLst>
              <a:ext uri="{FF2B5EF4-FFF2-40B4-BE49-F238E27FC236}">
                <a16:creationId xmlns:a16="http://schemas.microsoft.com/office/drawing/2014/main" id="{A7B3DCF1-CE6A-6447-8597-5C4271E1F0F6}"/>
              </a:ext>
            </a:extLst>
          </p:cNvPr>
          <p:cNvSpPr/>
          <p:nvPr userDrawn="1"/>
        </p:nvSpPr>
        <p:spPr>
          <a:xfrm>
            <a:off x="0" y="5562000"/>
            <a:ext cx="9144000" cy="864000"/>
          </a:xfrm>
          <a:prstGeom prst="rect">
            <a:avLst/>
          </a:prstGeom>
          <a:solidFill>
            <a:srgbClr val="0C234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9" name="Title 1">
            <a:extLst>
              <a:ext uri="{FF2B5EF4-FFF2-40B4-BE49-F238E27FC236}">
                <a16:creationId xmlns:a16="http://schemas.microsoft.com/office/drawing/2014/main" id="{3D5BB6DF-F69B-0F4A-AF43-4A9D704A4F3B}"/>
              </a:ext>
            </a:extLst>
          </p:cNvPr>
          <p:cNvSpPr>
            <a:spLocks noGrp="1"/>
          </p:cNvSpPr>
          <p:nvPr>
            <p:ph type="ctrTitle"/>
          </p:nvPr>
        </p:nvSpPr>
        <p:spPr>
          <a:xfrm>
            <a:off x="900000" y="5691600"/>
            <a:ext cx="5760000" cy="604800"/>
          </a:xfrm>
          <a:prstGeom prst="rect">
            <a:avLst/>
          </a:prstGeom>
        </p:spPr>
        <p:txBody>
          <a:bodyPr wrap="none" lIns="0" tIns="0" rIns="0" bIns="0" anchor="ctr"/>
          <a:lstStyle>
            <a:lvl1pPr algn="l">
              <a:defRPr sz="2800" b="1">
                <a:solidFill>
                  <a:schemeClr val="bg1"/>
                </a:solidFill>
                <a:latin typeface="+mj-lt"/>
                <a:cs typeface="Times New Roman" panose="02020603050405020304" pitchFamily="18" charset="0"/>
              </a:defRPr>
            </a:lvl1pPr>
          </a:lstStyle>
          <a:p>
            <a:r>
              <a:rPr lang="en-US" dirty="0"/>
              <a:t>Click to edit Master title style</a:t>
            </a:r>
          </a:p>
        </p:txBody>
      </p:sp>
      <p:sp>
        <p:nvSpPr>
          <p:cNvPr id="11" name="Rectangle 10"/>
          <p:cNvSpPr/>
          <p:nvPr userDrawn="1"/>
        </p:nvSpPr>
        <p:spPr>
          <a:xfrm>
            <a:off x="7302910" y="0"/>
            <a:ext cx="1725561" cy="1556792"/>
          </a:xfrm>
          <a:prstGeom prst="rect">
            <a:avLst/>
          </a:prstGeom>
          <a:solidFill>
            <a:srgbClr val="0C23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800"/>
          </a:p>
        </p:txBody>
      </p:sp>
      <p:pic>
        <p:nvPicPr>
          <p:cNvPr id="12" name="Graphic 9">
            <a:extLst>
              <a:ext uri="{FF2B5EF4-FFF2-40B4-BE49-F238E27FC236}">
                <a16:creationId xmlns:a16="http://schemas.microsoft.com/office/drawing/2014/main" id="{DB5D9AC3-6F35-1646-9088-6BF2C33BFAA1}"/>
              </a:ext>
            </a:extLst>
          </p:cNvPr>
          <p:cNvPicPr>
            <a:picLocks noChangeAspect="1"/>
          </p:cNvPicPr>
          <p:nvPr userDrawn="1"/>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429500" y="-5715"/>
            <a:ext cx="1485901" cy="1490499"/>
          </a:xfrm>
          <a:prstGeom prst="rect">
            <a:avLst/>
          </a:prstGeom>
        </p:spPr>
      </p:pic>
    </p:spTree>
    <p:extLst>
      <p:ext uri="{BB962C8B-B14F-4D97-AF65-F5344CB8AC3E}">
        <p14:creationId xmlns:p14="http://schemas.microsoft.com/office/powerpoint/2010/main" val="2380574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80728"/>
            <a:ext cx="8229600" cy="5040560"/>
          </a:xfrm>
        </p:spPr>
        <p:txBody>
          <a:bodyPr>
            <a:normAutofit/>
          </a:bodyPr>
          <a:lstStyle>
            <a:lvl1pPr>
              <a:defRPr sz="2000">
                <a:latin typeface="+mj-lt"/>
                <a:cs typeface="Times New Roman" pitchFamily="18" charset="0"/>
              </a:defRPr>
            </a:lvl1pPr>
            <a:lvl2pPr>
              <a:defRPr sz="2000">
                <a:latin typeface="+mj-lt"/>
                <a:cs typeface="Times New Roman" pitchFamily="18" charset="0"/>
              </a:defRPr>
            </a:lvl2pPr>
            <a:lvl3pPr>
              <a:defRPr sz="1800">
                <a:latin typeface="+mj-lt"/>
                <a:cs typeface="Times New Roman" pitchFamily="18" charset="0"/>
              </a:defRPr>
            </a:lvl3pPr>
            <a:lvl4pPr>
              <a:defRPr sz="1600">
                <a:latin typeface="+mj-lt"/>
                <a:cs typeface="Times New Roman" pitchFamily="18" charset="0"/>
              </a:defRPr>
            </a:lvl4pPr>
            <a:lvl5pPr>
              <a:defRPr sz="1600">
                <a:latin typeface="+mj-lt"/>
                <a:cs typeface="Times New Roman"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cxnSp>
        <p:nvCxnSpPr>
          <p:cNvPr id="5" name="Straight Connector 4"/>
          <p:cNvCxnSpPr/>
          <p:nvPr userDrawn="1"/>
        </p:nvCxnSpPr>
        <p:spPr>
          <a:xfrm>
            <a:off x="457200" y="6525344"/>
            <a:ext cx="7355160" cy="0"/>
          </a:xfrm>
          <a:prstGeom prst="line">
            <a:avLst/>
          </a:prstGeom>
          <a:ln w="12700">
            <a:solidFill>
              <a:srgbClr val="0C234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6493" y="6139496"/>
            <a:ext cx="749963" cy="618866"/>
          </a:xfrm>
          <a:prstGeom prst="rect">
            <a:avLst/>
          </a:prstGeom>
        </p:spPr>
      </p:pic>
      <p:sp>
        <p:nvSpPr>
          <p:cNvPr id="7" name="Title 20"/>
          <p:cNvSpPr>
            <a:spLocks noGrp="1"/>
          </p:cNvSpPr>
          <p:nvPr>
            <p:ph type="title"/>
          </p:nvPr>
        </p:nvSpPr>
        <p:spPr>
          <a:xfrm>
            <a:off x="467544" y="274638"/>
            <a:ext cx="5328592" cy="562074"/>
          </a:xfrm>
          <a:prstGeom prst="roundRect">
            <a:avLst/>
          </a:prstGeom>
          <a:solidFill>
            <a:srgbClr val="00296C"/>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normAutofit/>
          </a:bodyPr>
          <a:lstStyle>
            <a:lvl1pPr algn="l">
              <a:defRPr sz="2000">
                <a:latin typeface="Verdana" panose="020B0604030504040204" pitchFamily="34" charset="0"/>
                <a:ea typeface="Verdana" panose="020B0604030504040204" pitchFamily="34" charset="0"/>
              </a:defRPr>
            </a:lvl1pPr>
          </a:lstStyle>
          <a:p>
            <a:endParaRPr lang="en-US" sz="2215" b="1" dirty="0">
              <a:solidFill>
                <a:prstClr val="white"/>
              </a:solidFill>
              <a:latin typeface="+mn-lt"/>
              <a:cs typeface="+mn-cs"/>
            </a:endParaRPr>
          </a:p>
        </p:txBody>
      </p:sp>
    </p:spTree>
    <p:extLst>
      <p:ext uri="{BB962C8B-B14F-4D97-AF65-F5344CB8AC3E}">
        <p14:creationId xmlns:p14="http://schemas.microsoft.com/office/powerpoint/2010/main" val="343010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28800"/>
            <a:ext cx="4038600" cy="4411942"/>
          </a:xfrm>
        </p:spPr>
        <p:txBody>
          <a:bodyPr>
            <a:normAutofit/>
          </a:bodyPr>
          <a:lstStyle>
            <a:lvl1pPr>
              <a:defRPr sz="1600">
                <a:latin typeface="Times New Roman" pitchFamily="18" charset="0"/>
                <a:cs typeface="Times New Roman" pitchFamily="18" charset="0"/>
              </a:defRPr>
            </a:lvl1pPr>
            <a:lvl2pPr>
              <a:defRPr sz="1600">
                <a:latin typeface="Times New Roman" pitchFamily="18" charset="0"/>
                <a:cs typeface="Times New Roman" pitchFamily="18" charset="0"/>
              </a:defRPr>
            </a:lvl2pPr>
            <a:lvl3pPr>
              <a:defRPr sz="1600">
                <a:latin typeface="Times New Roman" pitchFamily="18" charset="0"/>
                <a:cs typeface="Times New Roman" pitchFamily="18" charset="0"/>
              </a:defRPr>
            </a:lvl3pPr>
            <a:lvl4pPr>
              <a:defRPr sz="1600">
                <a:latin typeface="Times New Roman" pitchFamily="18" charset="0"/>
                <a:cs typeface="Times New Roman" pitchFamily="18" charset="0"/>
              </a:defRPr>
            </a:lvl4pPr>
            <a:lvl5pPr>
              <a:defRPr sz="1600">
                <a:latin typeface="Times New Roman" pitchFamily="18" charset="0"/>
                <a:cs typeface="Times New Roman" pitchFamily="18" charset="0"/>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4" name="Content Placeholder 3"/>
          <p:cNvSpPr>
            <a:spLocks noGrp="1"/>
          </p:cNvSpPr>
          <p:nvPr>
            <p:ph sz="half" idx="2"/>
          </p:nvPr>
        </p:nvSpPr>
        <p:spPr>
          <a:xfrm>
            <a:off x="4648200" y="1628800"/>
            <a:ext cx="4038600" cy="4411942"/>
          </a:xfrm>
        </p:spPr>
        <p:txBody>
          <a:bodyPr>
            <a:normAutofit/>
          </a:bodyPr>
          <a:lstStyle>
            <a:lvl1pPr>
              <a:defRPr sz="1600">
                <a:latin typeface="Times New Roman" pitchFamily="18" charset="0"/>
                <a:cs typeface="Times New Roman" pitchFamily="18" charset="0"/>
              </a:defRPr>
            </a:lvl1pPr>
            <a:lvl2pPr>
              <a:defRPr sz="1600">
                <a:latin typeface="Times New Roman" pitchFamily="18" charset="0"/>
                <a:cs typeface="Times New Roman" pitchFamily="18" charset="0"/>
              </a:defRPr>
            </a:lvl2pPr>
            <a:lvl3pPr>
              <a:defRPr sz="1600">
                <a:latin typeface="Times New Roman" pitchFamily="18" charset="0"/>
                <a:cs typeface="Times New Roman" pitchFamily="18" charset="0"/>
              </a:defRPr>
            </a:lvl3pPr>
            <a:lvl4pPr>
              <a:defRPr sz="1600">
                <a:latin typeface="Times New Roman" pitchFamily="18" charset="0"/>
                <a:cs typeface="Times New Roman" pitchFamily="18" charset="0"/>
              </a:defRPr>
            </a:lvl4pPr>
            <a:lvl5pPr>
              <a:defRPr sz="1600">
                <a:latin typeface="Times New Roman" pitchFamily="18" charset="0"/>
                <a:cs typeface="Times New Roman" pitchFamily="18" charset="0"/>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Title 1"/>
          <p:cNvSpPr>
            <a:spLocks noGrp="1"/>
          </p:cNvSpPr>
          <p:nvPr>
            <p:ph type="title" hasCustomPrompt="1"/>
          </p:nvPr>
        </p:nvSpPr>
        <p:spPr>
          <a:xfrm>
            <a:off x="467544" y="274638"/>
            <a:ext cx="8208912" cy="778098"/>
          </a:xfrm>
        </p:spPr>
        <p:txBody>
          <a:bodyPr>
            <a:normAutofit/>
          </a:bodyPr>
          <a:lstStyle>
            <a:lvl1pPr algn="l">
              <a:defRPr sz="4000">
                <a:latin typeface="Times New Roman" pitchFamily="18" charset="0"/>
                <a:cs typeface="Times New Roman" pitchFamily="18" charset="0"/>
              </a:defRPr>
            </a:lvl1pPr>
          </a:lstStyle>
          <a:p>
            <a:r>
              <a:rPr lang="en-US" dirty="0"/>
              <a:t>Title</a:t>
            </a:r>
            <a:endParaRPr lang="en-AU" dirty="0"/>
          </a:p>
        </p:txBody>
      </p:sp>
      <p:sp>
        <p:nvSpPr>
          <p:cNvPr id="9" name="Text Placeholder 8"/>
          <p:cNvSpPr>
            <a:spLocks noGrp="1"/>
          </p:cNvSpPr>
          <p:nvPr>
            <p:ph type="body" sz="quarter" idx="13" hasCustomPrompt="1"/>
          </p:nvPr>
        </p:nvSpPr>
        <p:spPr>
          <a:xfrm>
            <a:off x="467544" y="1051967"/>
            <a:ext cx="8208145" cy="504825"/>
          </a:xfr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000">
                <a:solidFill>
                  <a:schemeClr val="bg2"/>
                </a:solidFill>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000" dirty="0">
                <a:solidFill>
                  <a:srgbClr val="E10600"/>
                </a:solidFill>
                <a:latin typeface="Verdana" pitchFamily="34" charset="0"/>
                <a:ea typeface="Verdana" pitchFamily="34" charset="0"/>
                <a:cs typeface="Verdana" pitchFamily="34" charset="0"/>
              </a:rPr>
              <a:t>Subtitle</a:t>
            </a:r>
            <a:endParaRPr lang="en-AU" sz="2000" dirty="0">
              <a:solidFill>
                <a:srgbClr val="E10600"/>
              </a:solidFill>
              <a:latin typeface="Verdana" pitchFamily="34" charset="0"/>
              <a:ea typeface="Verdana" pitchFamily="34" charset="0"/>
              <a:cs typeface="Verdana" pitchFamily="34" charset="0"/>
            </a:endParaRPr>
          </a:p>
        </p:txBody>
      </p:sp>
      <p:cxnSp>
        <p:nvCxnSpPr>
          <p:cNvPr id="6" name="Straight Connector 5"/>
          <p:cNvCxnSpPr/>
          <p:nvPr userDrawn="1"/>
        </p:nvCxnSpPr>
        <p:spPr>
          <a:xfrm>
            <a:off x="457200" y="6525344"/>
            <a:ext cx="7355160" cy="0"/>
          </a:xfrm>
          <a:prstGeom prst="line">
            <a:avLst/>
          </a:prstGeom>
          <a:ln w="12700">
            <a:solidFill>
              <a:srgbClr val="0C234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6493" y="6139496"/>
            <a:ext cx="749963" cy="618866"/>
          </a:xfrm>
          <a:prstGeom prst="rect">
            <a:avLst/>
          </a:prstGeom>
        </p:spPr>
      </p:pic>
    </p:spTree>
    <p:extLst>
      <p:ext uri="{BB962C8B-B14F-4D97-AF65-F5344CB8AC3E}">
        <p14:creationId xmlns:p14="http://schemas.microsoft.com/office/powerpoint/2010/main" val="2310034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67544" y="274638"/>
            <a:ext cx="8208912" cy="778098"/>
          </a:xfrm>
        </p:spPr>
        <p:txBody>
          <a:bodyPr>
            <a:normAutofit/>
          </a:bodyPr>
          <a:lstStyle>
            <a:lvl1pPr algn="l">
              <a:defRPr sz="4000">
                <a:latin typeface="Times New Roman" pitchFamily="18" charset="0"/>
                <a:cs typeface="Times New Roman" pitchFamily="18" charset="0"/>
              </a:defRPr>
            </a:lvl1pPr>
          </a:lstStyle>
          <a:p>
            <a:r>
              <a:rPr lang="en-US" dirty="0"/>
              <a:t>Title</a:t>
            </a:r>
            <a:endParaRPr lang="en-AU" dirty="0"/>
          </a:p>
        </p:txBody>
      </p:sp>
      <p:sp>
        <p:nvSpPr>
          <p:cNvPr id="9" name="Text Placeholder 8"/>
          <p:cNvSpPr>
            <a:spLocks noGrp="1"/>
          </p:cNvSpPr>
          <p:nvPr>
            <p:ph type="body" sz="quarter" idx="10" hasCustomPrompt="1"/>
          </p:nvPr>
        </p:nvSpPr>
        <p:spPr>
          <a:xfrm>
            <a:off x="468313" y="1052736"/>
            <a:ext cx="8207375" cy="503237"/>
          </a:xfrm>
        </p:spPr>
        <p:txBody>
          <a:bodyPr>
            <a:normAutofit/>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000">
                <a:solidFill>
                  <a:schemeClr val="bg2"/>
                </a:solidFill>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000" dirty="0">
                <a:solidFill>
                  <a:srgbClr val="E10600"/>
                </a:solidFill>
                <a:latin typeface="Verdana" pitchFamily="34" charset="0"/>
                <a:ea typeface="Verdana" pitchFamily="34" charset="0"/>
                <a:cs typeface="Verdana" pitchFamily="34" charset="0"/>
              </a:rPr>
              <a:t>Subtitle</a:t>
            </a:r>
            <a:endParaRPr lang="en-AU" sz="2000" dirty="0">
              <a:solidFill>
                <a:srgbClr val="E10600"/>
              </a:solidFill>
              <a:latin typeface="Verdana" pitchFamily="34" charset="0"/>
              <a:ea typeface="Verdana" pitchFamily="34" charset="0"/>
              <a:cs typeface="Verdana" pitchFamily="34" charset="0"/>
            </a:endParaRPr>
          </a:p>
        </p:txBody>
      </p:sp>
      <p:cxnSp>
        <p:nvCxnSpPr>
          <p:cNvPr id="4" name="Straight Connector 3"/>
          <p:cNvCxnSpPr/>
          <p:nvPr userDrawn="1"/>
        </p:nvCxnSpPr>
        <p:spPr>
          <a:xfrm>
            <a:off x="457200" y="6525344"/>
            <a:ext cx="7355160" cy="0"/>
          </a:xfrm>
          <a:prstGeom prst="line">
            <a:avLst/>
          </a:prstGeom>
          <a:ln w="12700">
            <a:solidFill>
              <a:srgbClr val="0C2340"/>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6493" y="6139496"/>
            <a:ext cx="749963" cy="618866"/>
          </a:xfrm>
          <a:prstGeom prst="rect">
            <a:avLst/>
          </a:prstGeom>
        </p:spPr>
      </p:pic>
    </p:spTree>
    <p:extLst>
      <p:ext uri="{BB962C8B-B14F-4D97-AF65-F5344CB8AC3E}">
        <p14:creationId xmlns:p14="http://schemas.microsoft.com/office/powerpoint/2010/main" val="2506172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p:cNvCxnSpPr/>
          <p:nvPr userDrawn="1"/>
        </p:nvCxnSpPr>
        <p:spPr>
          <a:xfrm>
            <a:off x="457200" y="6525344"/>
            <a:ext cx="7355160" cy="0"/>
          </a:xfrm>
          <a:prstGeom prst="line">
            <a:avLst/>
          </a:prstGeom>
          <a:ln w="12700">
            <a:solidFill>
              <a:srgbClr val="0C2340"/>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6493" y="6139496"/>
            <a:ext cx="749963" cy="618866"/>
          </a:xfrm>
          <a:prstGeom prst="rect">
            <a:avLst/>
          </a:prstGeom>
        </p:spPr>
      </p:pic>
    </p:spTree>
    <p:extLst>
      <p:ext uri="{BB962C8B-B14F-4D97-AF65-F5344CB8AC3E}">
        <p14:creationId xmlns:p14="http://schemas.microsoft.com/office/powerpoint/2010/main" val="3043321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273050"/>
            <a:ext cx="5111750" cy="5820246"/>
          </a:xfrm>
        </p:spPr>
        <p:txBody>
          <a:bodyPr>
            <a:normAutofit/>
          </a:bodyPr>
          <a:lstStyle>
            <a:lvl1pPr>
              <a:defRPr sz="1600">
                <a:latin typeface="Times New Roman" pitchFamily="18" charset="0"/>
                <a:cs typeface="Times New Roman" pitchFamily="18" charset="0"/>
              </a:defRPr>
            </a:lvl1pPr>
            <a:lvl2pPr>
              <a:defRPr sz="1600">
                <a:latin typeface="Times New Roman" pitchFamily="18" charset="0"/>
                <a:cs typeface="Times New Roman" pitchFamily="18" charset="0"/>
              </a:defRPr>
            </a:lvl2pPr>
            <a:lvl3pPr>
              <a:defRPr sz="1600">
                <a:latin typeface="Times New Roman" pitchFamily="18" charset="0"/>
                <a:cs typeface="Times New Roman" pitchFamily="18" charset="0"/>
              </a:defRPr>
            </a:lvl3pPr>
            <a:lvl4pPr>
              <a:defRPr sz="1600">
                <a:latin typeface="Times New Roman" pitchFamily="18" charset="0"/>
                <a:cs typeface="Times New Roman" pitchFamily="18" charset="0"/>
              </a:defRPr>
            </a:lvl4pPr>
            <a:lvl5pPr>
              <a:defRPr sz="1600">
                <a:latin typeface="Times New Roman" pitchFamily="18" charset="0"/>
                <a:cs typeface="Times New Roman" pitchFamily="18"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8" name="Title 1"/>
          <p:cNvSpPr>
            <a:spLocks noGrp="1"/>
          </p:cNvSpPr>
          <p:nvPr>
            <p:ph type="title" hasCustomPrompt="1"/>
          </p:nvPr>
        </p:nvSpPr>
        <p:spPr>
          <a:xfrm>
            <a:off x="467544" y="274638"/>
            <a:ext cx="3024336" cy="1354162"/>
          </a:xfrm>
        </p:spPr>
        <p:txBody>
          <a:bodyPr>
            <a:normAutofit/>
          </a:bodyPr>
          <a:lstStyle>
            <a:lvl1pPr algn="l">
              <a:defRPr sz="4000">
                <a:latin typeface="Times New Roman" pitchFamily="18" charset="0"/>
                <a:cs typeface="Times New Roman" pitchFamily="18" charset="0"/>
              </a:defRPr>
            </a:lvl1pPr>
          </a:lstStyle>
          <a:p>
            <a:r>
              <a:rPr lang="en-US" dirty="0"/>
              <a:t>Title</a:t>
            </a:r>
            <a:endParaRPr lang="en-AU" dirty="0"/>
          </a:p>
        </p:txBody>
      </p:sp>
      <p:sp>
        <p:nvSpPr>
          <p:cNvPr id="11" name="Text Placeholder 10"/>
          <p:cNvSpPr>
            <a:spLocks noGrp="1"/>
          </p:cNvSpPr>
          <p:nvPr>
            <p:ph type="body" sz="quarter" idx="10" hasCustomPrompt="1"/>
          </p:nvPr>
        </p:nvSpPr>
        <p:spPr>
          <a:xfrm>
            <a:off x="468313" y="1628800"/>
            <a:ext cx="3024187" cy="4464496"/>
          </a:xfrm>
        </p:spPr>
        <p:txBody>
          <a:bodyPr>
            <a:normAutofit/>
          </a:bodyPr>
          <a:lstStyle>
            <a:lvl1pPr marL="0" indent="0">
              <a:buNone/>
              <a:defRPr sz="2000">
                <a:solidFill>
                  <a:schemeClr val="bg2"/>
                </a:solidFill>
              </a:defRPr>
            </a:lvl1pPr>
          </a:lstStyle>
          <a:p>
            <a:pPr lvl="0"/>
            <a:r>
              <a:rPr lang="en-AU" dirty="0"/>
              <a:t>Subtitle</a:t>
            </a:r>
          </a:p>
        </p:txBody>
      </p:sp>
      <p:cxnSp>
        <p:nvCxnSpPr>
          <p:cNvPr id="5" name="Straight Connector 4"/>
          <p:cNvCxnSpPr/>
          <p:nvPr userDrawn="1"/>
        </p:nvCxnSpPr>
        <p:spPr>
          <a:xfrm>
            <a:off x="457200" y="6525344"/>
            <a:ext cx="7355160" cy="0"/>
          </a:xfrm>
          <a:prstGeom prst="line">
            <a:avLst/>
          </a:prstGeom>
          <a:ln w="12700">
            <a:solidFill>
              <a:srgbClr val="0C234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6493" y="6139496"/>
            <a:ext cx="749963" cy="618866"/>
          </a:xfrm>
          <a:prstGeom prst="rect">
            <a:avLst/>
          </a:prstGeom>
        </p:spPr>
      </p:pic>
    </p:spTree>
    <p:extLst>
      <p:ext uri="{BB962C8B-B14F-4D97-AF65-F5344CB8AC3E}">
        <p14:creationId xmlns:p14="http://schemas.microsoft.com/office/powerpoint/2010/main" val="382138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612775"/>
            <a:ext cx="5486400" cy="4114800"/>
          </a:xfrm>
        </p:spPr>
        <p:txBody>
          <a:bodyPr>
            <a:normAutofit/>
          </a:bodyPr>
          <a:lstStyle>
            <a:lvl1pPr marL="0" indent="0">
              <a:buNone/>
              <a:defRPr sz="1600">
                <a:latin typeface="Times New Roman" pitchFamily="18" charset="0"/>
                <a:cs typeface="Times New Roman"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AU" dirty="0"/>
          </a:p>
        </p:txBody>
      </p:sp>
      <p:sp>
        <p:nvSpPr>
          <p:cNvPr id="8" name="Title 1"/>
          <p:cNvSpPr>
            <a:spLocks noGrp="1"/>
          </p:cNvSpPr>
          <p:nvPr>
            <p:ph type="title" hasCustomPrompt="1"/>
          </p:nvPr>
        </p:nvSpPr>
        <p:spPr>
          <a:xfrm>
            <a:off x="467544" y="4811142"/>
            <a:ext cx="8208912" cy="778098"/>
          </a:xfrm>
        </p:spPr>
        <p:txBody>
          <a:bodyPr>
            <a:normAutofit/>
          </a:bodyPr>
          <a:lstStyle>
            <a:lvl1pPr algn="l">
              <a:defRPr sz="4000">
                <a:latin typeface="Times New Roman" pitchFamily="18" charset="0"/>
                <a:cs typeface="Times New Roman" pitchFamily="18" charset="0"/>
              </a:defRPr>
            </a:lvl1pPr>
          </a:lstStyle>
          <a:p>
            <a:r>
              <a:rPr lang="en-US" dirty="0"/>
              <a:t>Title</a:t>
            </a:r>
            <a:endParaRPr lang="en-AU" dirty="0"/>
          </a:p>
        </p:txBody>
      </p:sp>
      <p:sp>
        <p:nvSpPr>
          <p:cNvPr id="11" name="Text Placeholder 10"/>
          <p:cNvSpPr>
            <a:spLocks noGrp="1"/>
          </p:cNvSpPr>
          <p:nvPr>
            <p:ph type="body" sz="quarter" idx="14" hasCustomPrompt="1"/>
          </p:nvPr>
        </p:nvSpPr>
        <p:spPr>
          <a:xfrm>
            <a:off x="468313" y="5589240"/>
            <a:ext cx="8207375" cy="432048"/>
          </a:xfr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1600">
                <a:solidFill>
                  <a:schemeClr val="bg2"/>
                </a:solidFill>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000" dirty="0">
                <a:solidFill>
                  <a:srgbClr val="E10600"/>
                </a:solidFill>
                <a:latin typeface="Verdana" pitchFamily="34" charset="0"/>
                <a:ea typeface="Verdana" pitchFamily="34" charset="0"/>
                <a:cs typeface="Verdana" pitchFamily="34" charset="0"/>
              </a:rPr>
              <a:t>Subtitle</a:t>
            </a:r>
            <a:endParaRPr lang="en-AU" sz="2000" dirty="0">
              <a:solidFill>
                <a:srgbClr val="E10600"/>
              </a:solidFill>
              <a:latin typeface="Verdana" pitchFamily="34" charset="0"/>
              <a:ea typeface="Verdana" pitchFamily="34" charset="0"/>
              <a:cs typeface="Verdana" pitchFamily="34" charset="0"/>
            </a:endParaRPr>
          </a:p>
        </p:txBody>
      </p:sp>
      <p:cxnSp>
        <p:nvCxnSpPr>
          <p:cNvPr id="5" name="Straight Connector 4"/>
          <p:cNvCxnSpPr/>
          <p:nvPr userDrawn="1"/>
        </p:nvCxnSpPr>
        <p:spPr>
          <a:xfrm>
            <a:off x="457200" y="6525344"/>
            <a:ext cx="7355160" cy="0"/>
          </a:xfrm>
          <a:prstGeom prst="line">
            <a:avLst/>
          </a:prstGeom>
          <a:ln w="12700">
            <a:solidFill>
              <a:srgbClr val="0C234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6493" y="6139496"/>
            <a:ext cx="749963" cy="618866"/>
          </a:xfrm>
          <a:prstGeom prst="rect">
            <a:avLst/>
          </a:prstGeom>
        </p:spPr>
      </p:pic>
    </p:spTree>
    <p:extLst>
      <p:ext uri="{BB962C8B-B14F-4D97-AF65-F5344CB8AC3E}">
        <p14:creationId xmlns:p14="http://schemas.microsoft.com/office/powerpoint/2010/main" val="2786449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33EAF9DF-979D-40C4-8C87-C7EDEB346FDF}"/>
              </a:ext>
            </a:extLst>
          </p:cNvPr>
          <p:cNvSpPr>
            <a:spLocks noGrp="1"/>
          </p:cNvSpPr>
          <p:nvPr>
            <p:ph type="dt" sz="half" idx="10"/>
          </p:nvPr>
        </p:nvSpPr>
        <p:spPr/>
        <p:txBody>
          <a:bodyPr/>
          <a:lstStyle>
            <a:lvl1pPr>
              <a:defRPr/>
            </a:lvl1pPr>
          </a:lstStyle>
          <a:p>
            <a:fld id="{AF1DB8DC-E5AC-4AA8-9F93-89C01054D417}" type="datetime1">
              <a:rPr lang="en-US" altLang="en-US"/>
              <a:pPr/>
              <a:t>2/9/2023</a:t>
            </a:fld>
            <a:endParaRPr lang="en-US" altLang="en-US"/>
          </a:p>
        </p:txBody>
      </p:sp>
      <p:sp>
        <p:nvSpPr>
          <p:cNvPr id="4" name="Footer Placeholder 4">
            <a:extLst>
              <a:ext uri="{FF2B5EF4-FFF2-40B4-BE49-F238E27FC236}">
                <a16:creationId xmlns:a16="http://schemas.microsoft.com/office/drawing/2014/main" id="{2AFC5425-A7B2-4EBD-BCE8-C7E2BCD6F96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11907C7-F2B3-425C-9919-10A1D812E0A6}"/>
              </a:ext>
            </a:extLst>
          </p:cNvPr>
          <p:cNvSpPr>
            <a:spLocks noGrp="1"/>
          </p:cNvSpPr>
          <p:nvPr>
            <p:ph type="sldNum" sz="quarter" idx="12"/>
          </p:nvPr>
        </p:nvSpPr>
        <p:spPr/>
        <p:txBody>
          <a:bodyPr/>
          <a:lstStyle>
            <a:lvl1pPr>
              <a:defRPr/>
            </a:lvl1pPr>
          </a:lstStyle>
          <a:p>
            <a:fld id="{42F92CCC-D0CB-4E7B-973A-8FD616771912}" type="slidenum">
              <a:rPr lang="en-US" altLang="en-US"/>
              <a:pPr/>
              <a:t>‹#›</a:t>
            </a:fld>
            <a:endParaRPr lang="en-US" altLang="en-US"/>
          </a:p>
        </p:txBody>
      </p:sp>
    </p:spTree>
    <p:extLst>
      <p:ext uri="{BB962C8B-B14F-4D97-AF65-F5344CB8AC3E}">
        <p14:creationId xmlns:p14="http://schemas.microsoft.com/office/powerpoint/2010/main" val="3642466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cxnSp>
        <p:nvCxnSpPr>
          <p:cNvPr id="4" name="Straight Connector 3"/>
          <p:cNvCxnSpPr/>
          <p:nvPr userDrawn="1"/>
        </p:nvCxnSpPr>
        <p:spPr>
          <a:xfrm>
            <a:off x="457200" y="6525344"/>
            <a:ext cx="7355160" cy="0"/>
          </a:xfrm>
          <a:prstGeom prst="line">
            <a:avLst/>
          </a:prstGeom>
          <a:ln w="12700">
            <a:solidFill>
              <a:srgbClr val="0C2340"/>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926493" y="6139496"/>
            <a:ext cx="749963" cy="618866"/>
          </a:xfrm>
          <a:prstGeom prst="rect">
            <a:avLst/>
          </a:prstGeom>
        </p:spPr>
      </p:pic>
    </p:spTree>
    <p:extLst>
      <p:ext uri="{BB962C8B-B14F-4D97-AF65-F5344CB8AC3E}">
        <p14:creationId xmlns:p14="http://schemas.microsoft.com/office/powerpoint/2010/main" val="635998656"/>
      </p:ext>
    </p:extLst>
  </p:cSld>
  <p:clrMap bg1="lt1" tx1="dk1" bg2="lt2" tx2="dk2" accent1="accent1" accent2="accent2" accent3="accent3" accent4="accent4" accent5="accent5" accent6="accent6" hlink="hlink" folHlink="folHlink"/>
  <p:sldLayoutIdLst>
    <p:sldLayoutId id="2147483662" r:id="rId1"/>
    <p:sldLayoutId id="2147483664" r:id="rId2"/>
    <p:sldLayoutId id="2147483650" r:id="rId3"/>
    <p:sldLayoutId id="2147483652" r:id="rId4"/>
    <p:sldLayoutId id="2147483654" r:id="rId5"/>
    <p:sldLayoutId id="2147483655" r:id="rId6"/>
    <p:sldLayoutId id="2147483656" r:id="rId7"/>
    <p:sldLayoutId id="2147483657" r:id="rId8"/>
    <p:sldLayoutId id="2147483665" r:id="rId9"/>
  </p:sldLayoutIdLst>
  <p:txStyles>
    <p:titleStyle>
      <a:lvl1pPr algn="ctr" defTabSz="914400" rtl="0" eaLnBrk="1" latinLnBrk="0" hangingPunct="1">
        <a:spcBef>
          <a:spcPct val="0"/>
        </a:spcBef>
        <a:buNone/>
        <a:defRPr sz="2000" kern="120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9.xml"/><Relationship Id="rId1" Type="http://schemas.openxmlformats.org/officeDocument/2006/relationships/vmlDrawing" Target="../drawings/vmlDrawing2.vml"/><Relationship Id="rId4" Type="http://schemas.openxmlformats.org/officeDocument/2006/relationships/image" Target="../media/image14.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image" Target="../media/image16.wmf"/><Relationship Id="rId5" Type="http://schemas.openxmlformats.org/officeDocument/2006/relationships/oleObject" Target="../embeddings/oleObject6.bin"/><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3" Type="http://schemas.openxmlformats.org/officeDocument/2006/relationships/image" Target="../media/image17.wmf"/><Relationship Id="rId7" Type="http://schemas.openxmlformats.org/officeDocument/2006/relationships/image" Target="../media/image16.wmf"/><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media/image15.e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9.xml"/><Relationship Id="rId1" Type="http://schemas.openxmlformats.org/officeDocument/2006/relationships/vmlDrawing" Target="../drawings/vmlDrawing5.vml"/><Relationship Id="rId4" Type="http://schemas.openxmlformats.org/officeDocument/2006/relationships/image" Target="../media/image18.emf"/></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s://www.oberlin.edu/jeff-witmer" TargetMode="External"/><Relationship Id="rId2" Type="http://schemas.openxmlformats.org/officeDocument/2006/relationships/hyperlink" Target="https://www.ibm.com/ae-en/topics/logistic-regression"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Logistic </a:t>
            </a:r>
            <a:r>
              <a:rPr lang="en-US" b="0" dirty="0"/>
              <a:t>Regression</a:t>
            </a:r>
            <a:r>
              <a:rPr lang="en-US" b="1" dirty="0"/>
              <a:t> Classifiers</a:t>
            </a:r>
          </a:p>
        </p:txBody>
      </p:sp>
    </p:spTree>
    <p:extLst>
      <p:ext uri="{BB962C8B-B14F-4D97-AF65-F5344CB8AC3E}">
        <p14:creationId xmlns:p14="http://schemas.microsoft.com/office/powerpoint/2010/main" val="1105808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A5DD68-D4F6-4303-9B3B-E73DF53B28A6}"/>
              </a:ext>
            </a:extLst>
          </p:cNvPr>
          <p:cNvSpPr>
            <a:spLocks noGrp="1"/>
          </p:cNvSpPr>
          <p:nvPr>
            <p:ph idx="1"/>
          </p:nvPr>
        </p:nvSpPr>
        <p:spPr/>
        <p:txBody>
          <a:bodyPr/>
          <a:lstStyle/>
          <a:p>
            <a:pPr fontAlgn="base"/>
            <a:r>
              <a:rPr lang="en-US" dirty="0"/>
              <a:t>This type of statistical model (also known as </a:t>
            </a:r>
            <a:r>
              <a:rPr lang="en-US" i="1" dirty="0"/>
              <a:t>logit model</a:t>
            </a:r>
            <a:r>
              <a:rPr lang="en-US" dirty="0"/>
              <a:t>) is often used for classification and predictive analytics. </a:t>
            </a:r>
          </a:p>
          <a:p>
            <a:pPr fontAlgn="base"/>
            <a:r>
              <a:rPr lang="en-US" dirty="0"/>
              <a:t>Logistic regression estimates the probability of an event occurring, such as voted or didn’t vote, based on a given dataset of independent variables.</a:t>
            </a:r>
          </a:p>
          <a:p>
            <a:pPr fontAlgn="base"/>
            <a:r>
              <a:rPr lang="en-US" dirty="0"/>
              <a:t> Since the outcome is a probability, the dependent variable is bounded between 0 and 1. </a:t>
            </a:r>
          </a:p>
          <a:p>
            <a:pPr fontAlgn="base"/>
            <a:r>
              <a:rPr lang="en-US" dirty="0"/>
              <a:t>In logistic regression, a logit transformation is applied on the odds—that is, the probability of success divided by the probability of failure. This is also commonly known as the log odds, or the natural logarithm of odds, and this logistic function is represented by the following formulas:</a:t>
            </a:r>
          </a:p>
          <a:p>
            <a:pPr fontAlgn="base"/>
            <a:r>
              <a:rPr lang="en-US" dirty="0"/>
              <a:t>Logit(pi) = 1/(1+ exp(-pi))</a:t>
            </a:r>
          </a:p>
          <a:p>
            <a:pPr fontAlgn="base"/>
            <a:r>
              <a:rPr lang="en-US" dirty="0"/>
              <a:t>ln(pi/(1-pi)) = Beta_0 + Beta_1*X_1 + … + </a:t>
            </a:r>
            <a:r>
              <a:rPr lang="en-US" dirty="0" err="1"/>
              <a:t>B_k</a:t>
            </a:r>
            <a:r>
              <a:rPr lang="en-US" dirty="0"/>
              <a:t>*</a:t>
            </a:r>
            <a:r>
              <a:rPr lang="en-US" dirty="0" err="1"/>
              <a:t>K_k</a:t>
            </a:r>
            <a:endParaRPr lang="en-US" dirty="0"/>
          </a:p>
          <a:p>
            <a:pPr marL="0" indent="0">
              <a:buNone/>
            </a:pPr>
            <a:endParaRPr lang="en-US" dirty="0"/>
          </a:p>
        </p:txBody>
      </p:sp>
      <p:sp>
        <p:nvSpPr>
          <p:cNvPr id="3" name="Title 2">
            <a:extLst>
              <a:ext uri="{FF2B5EF4-FFF2-40B4-BE49-F238E27FC236}">
                <a16:creationId xmlns:a16="http://schemas.microsoft.com/office/drawing/2014/main" id="{38A7645F-3121-46E1-9D88-09CA96347983}"/>
              </a:ext>
            </a:extLst>
          </p:cNvPr>
          <p:cNvSpPr>
            <a:spLocks noGrp="1"/>
          </p:cNvSpPr>
          <p:nvPr>
            <p:ph type="title"/>
          </p:nvPr>
        </p:nvSpPr>
        <p:spPr>
          <a:xfrm>
            <a:off x="539552" y="274638"/>
            <a:ext cx="5328592" cy="562074"/>
          </a:xfrm>
        </p:spPr>
        <p:txBody>
          <a:bodyPr/>
          <a:lstStyle/>
          <a:p>
            <a:r>
              <a:rPr lang="en-US" dirty="0"/>
              <a:t>What is logistic regression?</a:t>
            </a:r>
          </a:p>
        </p:txBody>
      </p:sp>
    </p:spTree>
    <p:extLst>
      <p:ext uri="{BB962C8B-B14F-4D97-AF65-F5344CB8AC3E}">
        <p14:creationId xmlns:p14="http://schemas.microsoft.com/office/powerpoint/2010/main" val="3775982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D6D11F-B187-4D28-9851-8D7E6812141E}"/>
              </a:ext>
            </a:extLst>
          </p:cNvPr>
          <p:cNvSpPr>
            <a:spLocks noGrp="1"/>
          </p:cNvSpPr>
          <p:nvPr>
            <p:ph idx="1"/>
          </p:nvPr>
        </p:nvSpPr>
        <p:spPr/>
        <p:txBody>
          <a:bodyPr>
            <a:normAutofit/>
          </a:bodyPr>
          <a:lstStyle/>
          <a:p>
            <a:pPr fontAlgn="base"/>
            <a:r>
              <a:rPr lang="en-US" dirty="0"/>
              <a:t>ln(pi/(1-pi)) = Beta_0 + Beta_1*X_1 + … + </a:t>
            </a:r>
            <a:r>
              <a:rPr lang="en-US" dirty="0" err="1"/>
              <a:t>B_k</a:t>
            </a:r>
            <a:r>
              <a:rPr lang="en-US" dirty="0"/>
              <a:t>*</a:t>
            </a:r>
            <a:r>
              <a:rPr lang="en-US" dirty="0" err="1"/>
              <a:t>K_k</a:t>
            </a:r>
            <a:endParaRPr lang="en-US" dirty="0"/>
          </a:p>
          <a:p>
            <a:pPr fontAlgn="base"/>
            <a:r>
              <a:rPr lang="en-US" dirty="0"/>
              <a:t>In this logistic regression equation ln is the dependent or response variable and x is the independent variable. </a:t>
            </a:r>
          </a:p>
          <a:p>
            <a:pPr fontAlgn="base"/>
            <a:r>
              <a:rPr lang="en-US" dirty="0"/>
              <a:t>The beta parameter, or coefficient, in this model is commonly estimated via maximum likelihood estimation (MLE). This method tests different values of beta through multiple iterations to optimize for the best fit of log odds. </a:t>
            </a:r>
          </a:p>
          <a:p>
            <a:pPr fontAlgn="base"/>
            <a:r>
              <a:rPr lang="en-US" dirty="0"/>
              <a:t>In machine learning Gradient Descend is used instead of MLE.</a:t>
            </a:r>
          </a:p>
          <a:p>
            <a:pPr fontAlgn="base"/>
            <a:r>
              <a:rPr lang="en-US" dirty="0"/>
              <a:t>For binary classification, a probability less than .5 will predict 0 while a probability greater than 0 will predict 1. </a:t>
            </a:r>
          </a:p>
          <a:p>
            <a:pPr fontAlgn="base"/>
            <a:r>
              <a:rPr lang="en-US" dirty="0"/>
              <a:t> After the model has been computed, it’s best practice to evaluate the how well the model predicts the dependent variable, which is called goodness of fit. The Hosmer–</a:t>
            </a:r>
            <a:r>
              <a:rPr lang="en-US" dirty="0" err="1"/>
              <a:t>Lemeshow</a:t>
            </a:r>
            <a:r>
              <a:rPr lang="en-US" dirty="0"/>
              <a:t> (HL test) test is a popular method to assess model fit.</a:t>
            </a:r>
          </a:p>
          <a:p>
            <a:endParaRPr lang="en-US" dirty="0"/>
          </a:p>
        </p:txBody>
      </p:sp>
      <p:sp>
        <p:nvSpPr>
          <p:cNvPr id="3" name="Title 2">
            <a:extLst>
              <a:ext uri="{FF2B5EF4-FFF2-40B4-BE49-F238E27FC236}">
                <a16:creationId xmlns:a16="http://schemas.microsoft.com/office/drawing/2014/main" id="{698DBEC7-BB77-4B3C-AD58-0452B7A7DB8C}"/>
              </a:ext>
            </a:extLst>
          </p:cNvPr>
          <p:cNvSpPr>
            <a:spLocks noGrp="1"/>
          </p:cNvSpPr>
          <p:nvPr>
            <p:ph type="title"/>
          </p:nvPr>
        </p:nvSpPr>
        <p:spPr/>
        <p:txBody>
          <a:bodyPr>
            <a:normAutofit/>
          </a:bodyPr>
          <a:lstStyle/>
          <a:p>
            <a:r>
              <a:rPr lang="en-US" dirty="0"/>
              <a:t>Ensemble Learning</a:t>
            </a:r>
          </a:p>
        </p:txBody>
      </p:sp>
    </p:spTree>
    <p:extLst>
      <p:ext uri="{BB962C8B-B14F-4D97-AF65-F5344CB8AC3E}">
        <p14:creationId xmlns:p14="http://schemas.microsoft.com/office/powerpoint/2010/main" val="966849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C68650-EF75-40BA-8DB1-8B497FB0B460}"/>
              </a:ext>
            </a:extLst>
          </p:cNvPr>
          <p:cNvSpPr>
            <a:spLocks noGrp="1"/>
          </p:cNvSpPr>
          <p:nvPr>
            <p:ph idx="1"/>
          </p:nvPr>
        </p:nvSpPr>
        <p:spPr/>
        <p:txBody>
          <a:bodyPr>
            <a:normAutofit fontScale="92500" lnSpcReduction="10000"/>
          </a:bodyPr>
          <a:lstStyle/>
          <a:p>
            <a:pPr fontAlgn="base"/>
            <a:r>
              <a:rPr lang="en-US" dirty="0"/>
              <a:t>Log odds can be difficult to make sense of within a logistic regression data analysis. As a result, exponentiating the beta estimates is common to transform the results into an odds ratio (OR), easing the interpretation of results. </a:t>
            </a:r>
          </a:p>
          <a:p>
            <a:pPr fontAlgn="base"/>
            <a:r>
              <a:rPr lang="en-US" dirty="0"/>
              <a:t>The OR (odds ratio ) represents the odds that an outcome will occur given a particular event, compared to the odds of the outcome occurring in the absence of that event. </a:t>
            </a:r>
          </a:p>
          <a:p>
            <a:pPr fontAlgn="base"/>
            <a:r>
              <a:rPr lang="en-US" dirty="0">
                <a:highlight>
                  <a:srgbClr val="FFFF00"/>
                </a:highlight>
              </a:rPr>
              <a:t>If the OR is greater than 1, then the event is associated with a higher odds of generating a specific outcome. </a:t>
            </a:r>
          </a:p>
          <a:p>
            <a:pPr fontAlgn="base"/>
            <a:r>
              <a:rPr lang="en-US" dirty="0">
                <a:highlight>
                  <a:srgbClr val="FFFF00"/>
                </a:highlight>
              </a:rPr>
              <a:t>Conversely, if the OR is less than 1, then the event is associated with a lower odds of that outcome occurring. </a:t>
            </a:r>
          </a:p>
          <a:p>
            <a:pPr fontAlgn="base"/>
            <a:r>
              <a:rPr lang="en-US" dirty="0"/>
              <a:t>Based on the equation from above, the interpretation of an odds ratio can be denoted as the following: the odds of a success changes by exp(cB_1) times for every c-unit increase in x. To use an example, let’s say that we were to estimate the odds of survival on the Titanic given that the person was male, and the odds ratio for males was .0810. We’d interpret the odds ratio as the odds of survival of males decreased by a factor of .0810 when compared to females, holding all other variables constant.</a:t>
            </a:r>
          </a:p>
          <a:p>
            <a:pPr fontAlgn="base"/>
            <a:endParaRPr lang="en-US" dirty="0"/>
          </a:p>
        </p:txBody>
      </p:sp>
      <p:sp>
        <p:nvSpPr>
          <p:cNvPr id="3" name="Title 2">
            <a:extLst>
              <a:ext uri="{FF2B5EF4-FFF2-40B4-BE49-F238E27FC236}">
                <a16:creationId xmlns:a16="http://schemas.microsoft.com/office/drawing/2014/main" id="{E742966B-D87B-4D83-BC85-69EBD30EF753}"/>
              </a:ext>
            </a:extLst>
          </p:cNvPr>
          <p:cNvSpPr>
            <a:spLocks noGrp="1"/>
          </p:cNvSpPr>
          <p:nvPr>
            <p:ph type="title"/>
          </p:nvPr>
        </p:nvSpPr>
        <p:spPr/>
        <p:txBody>
          <a:bodyPr>
            <a:normAutofit/>
          </a:bodyPr>
          <a:lstStyle/>
          <a:p>
            <a:r>
              <a:rPr lang="en-US" dirty="0"/>
              <a:t>Interpreting logistic regression</a:t>
            </a:r>
          </a:p>
        </p:txBody>
      </p:sp>
    </p:spTree>
    <p:extLst>
      <p:ext uri="{BB962C8B-B14F-4D97-AF65-F5344CB8AC3E}">
        <p14:creationId xmlns:p14="http://schemas.microsoft.com/office/powerpoint/2010/main" val="1902908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BDDE61-A9BF-4809-9598-975909FD5382}"/>
              </a:ext>
            </a:extLst>
          </p:cNvPr>
          <p:cNvSpPr>
            <a:spLocks noGrp="1"/>
          </p:cNvSpPr>
          <p:nvPr>
            <p:ph idx="1"/>
          </p:nvPr>
        </p:nvSpPr>
        <p:spPr/>
        <p:txBody>
          <a:bodyPr>
            <a:normAutofit fontScale="92500" lnSpcReduction="20000"/>
          </a:bodyPr>
          <a:lstStyle/>
          <a:p>
            <a:pPr fontAlgn="base"/>
            <a:r>
              <a:rPr lang="en-US" dirty="0"/>
              <a:t>There are three types of logistic regression models, which are defined based on categorical response.</a:t>
            </a:r>
          </a:p>
          <a:p>
            <a:pPr fontAlgn="base"/>
            <a:r>
              <a:rPr lang="en-US" b="1" dirty="0"/>
              <a:t>Binary logistic regression: </a:t>
            </a:r>
            <a:r>
              <a:rPr lang="en-US" dirty="0"/>
              <a:t>In this approach, the response or dependent variable is dichotomous in nature—i.e. it has only two possible outcomes (e.g. 0 or 1). Some popular examples of its use include predicting if an e-mail is spam or not spam or if a tumor is malignant or not malignant. Within logistic regression, this is the most commonly used approach, and more generally, it is one of the most common classifiers for binary classification.</a:t>
            </a:r>
          </a:p>
          <a:p>
            <a:pPr fontAlgn="base"/>
            <a:r>
              <a:rPr lang="en-US" b="1" dirty="0"/>
              <a:t>Multinomial logistic regression: </a:t>
            </a:r>
            <a:r>
              <a:rPr lang="en-US" dirty="0"/>
              <a:t>In this type of logistic regression model, the dependent variable has three or more possible outcomes; however, these values have no specified order.  For example, movie studios want to predict what genre of film a moviegoer is likely to see to market films more effectively. A multinomial logistic regression model can help the studio to determine the strength of influence a person's age, gender, and dating status may have on the type of film that they prefer. The studio can then orient an advertising campaign of a specific movie toward a group of people likely to go see it.</a:t>
            </a:r>
          </a:p>
          <a:p>
            <a:pPr fontAlgn="base"/>
            <a:r>
              <a:rPr lang="en-US" b="1" dirty="0"/>
              <a:t>Ordinal logistic regression: </a:t>
            </a:r>
            <a:r>
              <a:rPr lang="en-US" dirty="0"/>
              <a:t>This type of logistic regression model is leveraged when the response variable has three or more possible outcome, but in this case, these values do have a defined order. Examples of ordinal responses include grading scales from A to F or rating scales from 1 to 5. </a:t>
            </a:r>
          </a:p>
          <a:p>
            <a:endParaRPr lang="en-US" dirty="0"/>
          </a:p>
        </p:txBody>
      </p:sp>
      <p:sp>
        <p:nvSpPr>
          <p:cNvPr id="3" name="Title 2">
            <a:extLst>
              <a:ext uri="{FF2B5EF4-FFF2-40B4-BE49-F238E27FC236}">
                <a16:creationId xmlns:a16="http://schemas.microsoft.com/office/drawing/2014/main" id="{EAAC3F85-5C90-4EF4-8235-426851563ABB}"/>
              </a:ext>
            </a:extLst>
          </p:cNvPr>
          <p:cNvSpPr>
            <a:spLocks noGrp="1"/>
          </p:cNvSpPr>
          <p:nvPr>
            <p:ph type="title"/>
          </p:nvPr>
        </p:nvSpPr>
        <p:spPr/>
        <p:txBody>
          <a:bodyPr>
            <a:normAutofit/>
          </a:bodyPr>
          <a:lstStyle/>
          <a:p>
            <a:r>
              <a:rPr lang="en-US" dirty="0"/>
              <a:t>Types of Logistic Regression</a:t>
            </a:r>
          </a:p>
        </p:txBody>
      </p:sp>
    </p:spTree>
    <p:extLst>
      <p:ext uri="{BB962C8B-B14F-4D97-AF65-F5344CB8AC3E}">
        <p14:creationId xmlns:p14="http://schemas.microsoft.com/office/powerpoint/2010/main" val="4121321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FC600F-88FF-4A21-9668-D40A63B24549}"/>
              </a:ext>
            </a:extLst>
          </p:cNvPr>
          <p:cNvSpPr>
            <a:spLocks noGrp="1"/>
          </p:cNvSpPr>
          <p:nvPr>
            <p:ph idx="1"/>
          </p:nvPr>
        </p:nvSpPr>
        <p:spPr/>
        <p:txBody>
          <a:bodyPr>
            <a:normAutofit fontScale="92500" lnSpcReduction="10000"/>
          </a:bodyPr>
          <a:lstStyle/>
          <a:p>
            <a:pPr fontAlgn="base"/>
            <a:r>
              <a:rPr lang="en-US" dirty="0"/>
              <a:t>Within machine learning, logistic regression belongs to the family of supervised machine learning models. It is also considered a discriminative model, which means that it attempts to distinguish between classes (or categories). Unlike a generative algorithm, such as naïve </a:t>
            </a:r>
            <a:r>
              <a:rPr lang="en-US" dirty="0" err="1"/>
              <a:t>bayes</a:t>
            </a:r>
            <a:r>
              <a:rPr lang="en-US" dirty="0"/>
              <a:t>, it cannot, as the name implies, generate information, such as an image, of the class that it is trying to predict (e.g. a picture of a cat).</a:t>
            </a:r>
          </a:p>
          <a:p>
            <a:pPr fontAlgn="base"/>
            <a:r>
              <a:rPr lang="en-US" dirty="0"/>
              <a:t>Previously, we mentioned how logistic regression maximizes the log likelihood function to determine the beta coefficients of the model. This changes slightly under the context of machine learning. Within machine learning, the negative log likelihood used as the loss function, using the process of gradient descent to find the global maximum. This is just another way to arrive at the same estimations discussed above.</a:t>
            </a:r>
          </a:p>
          <a:p>
            <a:pPr fontAlgn="base"/>
            <a:r>
              <a:rPr lang="en-US" dirty="0"/>
              <a:t>Logistic regression can also be prone to overfitting, particularly when there is a high number of predictor variables within the model. Regularization is typically used to penalize parameters large coefficients when the model suffers from high dimensionality.</a:t>
            </a:r>
          </a:p>
          <a:p>
            <a:pPr fontAlgn="base"/>
            <a:r>
              <a:rPr lang="en-US" dirty="0" err="1"/>
              <a:t>Scikit</a:t>
            </a:r>
            <a:r>
              <a:rPr lang="en-US" dirty="0"/>
              <a:t>-learn provides valuable documentation to learn more about the logistic regression machine learning model.</a:t>
            </a:r>
          </a:p>
          <a:p>
            <a:endParaRPr lang="en-US" dirty="0"/>
          </a:p>
        </p:txBody>
      </p:sp>
      <p:sp>
        <p:nvSpPr>
          <p:cNvPr id="3" name="Title 2">
            <a:extLst>
              <a:ext uri="{FF2B5EF4-FFF2-40B4-BE49-F238E27FC236}">
                <a16:creationId xmlns:a16="http://schemas.microsoft.com/office/drawing/2014/main" id="{02232D56-2624-4321-9884-6C3A465D084A}"/>
              </a:ext>
            </a:extLst>
          </p:cNvPr>
          <p:cNvSpPr>
            <a:spLocks noGrp="1"/>
          </p:cNvSpPr>
          <p:nvPr>
            <p:ph type="title"/>
          </p:nvPr>
        </p:nvSpPr>
        <p:spPr/>
        <p:txBody>
          <a:bodyPr>
            <a:normAutofit fontScale="90000"/>
          </a:bodyPr>
          <a:lstStyle/>
          <a:p>
            <a:r>
              <a:rPr lang="en-US" dirty="0"/>
              <a:t>Logistic regression and machine learning</a:t>
            </a:r>
          </a:p>
        </p:txBody>
      </p:sp>
    </p:spTree>
    <p:extLst>
      <p:ext uri="{BB962C8B-B14F-4D97-AF65-F5344CB8AC3E}">
        <p14:creationId xmlns:p14="http://schemas.microsoft.com/office/powerpoint/2010/main" val="2303520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2">
            <a:extLst>
              <a:ext uri="{FF2B5EF4-FFF2-40B4-BE49-F238E27FC236}">
                <a16:creationId xmlns:a16="http://schemas.microsoft.com/office/drawing/2014/main" id="{E823A0BA-6AF1-40EA-AC8B-C5EE30883169}"/>
              </a:ext>
            </a:extLst>
          </p:cNvPr>
          <p:cNvSpPr>
            <a:spLocks noGrp="1" noChangeArrowheads="1"/>
          </p:cNvSpPr>
          <p:nvPr>
            <p:ph type="title"/>
          </p:nvPr>
        </p:nvSpPr>
        <p:spPr>
          <a:xfrm>
            <a:off x="609600" y="0"/>
            <a:ext cx="7772400" cy="533400"/>
          </a:xfrm>
        </p:spPr>
        <p:txBody>
          <a:bodyPr>
            <a:normAutofit fontScale="90000"/>
          </a:bodyPr>
          <a:lstStyle/>
          <a:p>
            <a:pPr>
              <a:defRPr/>
            </a:pPr>
            <a:r>
              <a:rPr lang="en-US" sz="3200" dirty="0">
                <a:solidFill>
                  <a:srgbClr val="0125FF"/>
                </a:solidFill>
                <a:ea typeface="ＭＳ Ｐゴシック" charset="0"/>
                <a:cs typeface="ＭＳ Ｐゴシック" charset="0"/>
              </a:rPr>
              <a:t>Categorical Response Variables</a:t>
            </a:r>
          </a:p>
        </p:txBody>
      </p:sp>
      <p:sp>
        <p:nvSpPr>
          <p:cNvPr id="245763" name="Text Box 3">
            <a:extLst>
              <a:ext uri="{FF2B5EF4-FFF2-40B4-BE49-F238E27FC236}">
                <a16:creationId xmlns:a16="http://schemas.microsoft.com/office/drawing/2014/main" id="{2A70FB08-FAED-43F9-B068-5E7C1170D31D}"/>
              </a:ext>
            </a:extLst>
          </p:cNvPr>
          <p:cNvSpPr txBox="1">
            <a:spLocks noChangeArrowheads="1"/>
          </p:cNvSpPr>
          <p:nvPr/>
        </p:nvSpPr>
        <p:spPr bwMode="auto">
          <a:xfrm>
            <a:off x="0" y="533400"/>
            <a:ext cx="2133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solidFill>
                  <a:schemeClr val="bg1"/>
                </a:solidFill>
                <a:latin typeface="Times New Roman" panose="02020603050405020304" pitchFamily="18" charset="0"/>
              </a:rPr>
              <a:t>Examples:</a:t>
            </a:r>
          </a:p>
        </p:txBody>
      </p:sp>
      <p:sp>
        <p:nvSpPr>
          <p:cNvPr id="245764" name="Text Box 4">
            <a:extLst>
              <a:ext uri="{FF2B5EF4-FFF2-40B4-BE49-F238E27FC236}">
                <a16:creationId xmlns:a16="http://schemas.microsoft.com/office/drawing/2014/main" id="{89CABD25-3719-421B-BC11-908142DF6574}"/>
              </a:ext>
            </a:extLst>
          </p:cNvPr>
          <p:cNvSpPr txBox="1">
            <a:spLocks noChangeArrowheads="1"/>
          </p:cNvSpPr>
          <p:nvPr/>
        </p:nvSpPr>
        <p:spPr bwMode="auto">
          <a:xfrm>
            <a:off x="0" y="1250950"/>
            <a:ext cx="5486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solidFill>
                  <a:srgbClr val="0125FF"/>
                </a:solidFill>
                <a:latin typeface="Times New Roman" panose="02020603050405020304" pitchFamily="18" charset="0"/>
              </a:rPr>
              <a:t>Whether or not a person smokes</a:t>
            </a:r>
          </a:p>
        </p:txBody>
      </p:sp>
      <p:graphicFrame>
        <p:nvGraphicFramePr>
          <p:cNvPr id="245765" name="Object 5">
            <a:extLst>
              <a:ext uri="{FF2B5EF4-FFF2-40B4-BE49-F238E27FC236}">
                <a16:creationId xmlns:a16="http://schemas.microsoft.com/office/drawing/2014/main" id="{120AA2A0-B344-454B-A9A6-B8FB2B41C0D2}"/>
              </a:ext>
            </a:extLst>
          </p:cNvPr>
          <p:cNvGraphicFramePr>
            <a:graphicFrameLocks noChangeAspect="1"/>
          </p:cNvGraphicFramePr>
          <p:nvPr/>
        </p:nvGraphicFramePr>
        <p:xfrm>
          <a:off x="5708650" y="946150"/>
          <a:ext cx="3435350" cy="1274763"/>
        </p:xfrm>
        <a:graphic>
          <a:graphicData uri="http://schemas.openxmlformats.org/presentationml/2006/ole">
            <mc:AlternateContent xmlns:mc="http://schemas.openxmlformats.org/markup-compatibility/2006">
              <mc:Choice xmlns:v="urn:schemas-microsoft-com:vml" Requires="v">
                <p:oleObj spid="_x0000_s1026" name="Equation" r:id="rId3" imgW="1231900" imgH="457200" progId="Equation.3">
                  <p:embed/>
                </p:oleObj>
              </mc:Choice>
              <mc:Fallback>
                <p:oleObj name="Equation" r:id="rId3" imgW="1231900" imgH="457200" progId="Equation.3">
                  <p:embed/>
                  <p:pic>
                    <p:nvPicPr>
                      <p:cNvPr id="245765" name="Object 5">
                        <a:extLst>
                          <a:ext uri="{FF2B5EF4-FFF2-40B4-BE49-F238E27FC236}">
                            <a16:creationId xmlns:a16="http://schemas.microsoft.com/office/drawing/2014/main" id="{120AA2A0-B344-454B-A9A6-B8FB2B41C0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8650" y="946150"/>
                        <a:ext cx="3435350" cy="12747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766" name="Text Box 6">
            <a:extLst>
              <a:ext uri="{FF2B5EF4-FFF2-40B4-BE49-F238E27FC236}">
                <a16:creationId xmlns:a16="http://schemas.microsoft.com/office/drawing/2014/main" id="{EB187215-A991-4EFF-9415-D815CE767325}"/>
              </a:ext>
            </a:extLst>
          </p:cNvPr>
          <p:cNvSpPr txBox="1">
            <a:spLocks noChangeArrowheads="1"/>
          </p:cNvSpPr>
          <p:nvPr/>
        </p:nvSpPr>
        <p:spPr bwMode="auto">
          <a:xfrm>
            <a:off x="0" y="2622550"/>
            <a:ext cx="5486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solidFill>
                  <a:srgbClr val="0125FF"/>
                </a:solidFill>
                <a:latin typeface="Times New Roman" panose="02020603050405020304" pitchFamily="18" charset="0"/>
              </a:rPr>
              <a:t>Success of a medical treatment</a:t>
            </a:r>
          </a:p>
        </p:txBody>
      </p:sp>
      <p:graphicFrame>
        <p:nvGraphicFramePr>
          <p:cNvPr id="245767" name="Object 7">
            <a:extLst>
              <a:ext uri="{FF2B5EF4-FFF2-40B4-BE49-F238E27FC236}">
                <a16:creationId xmlns:a16="http://schemas.microsoft.com/office/drawing/2014/main" id="{05612157-6177-4756-8019-7D880926DDF5}"/>
              </a:ext>
            </a:extLst>
          </p:cNvPr>
          <p:cNvGraphicFramePr>
            <a:graphicFrameLocks noChangeAspect="1"/>
          </p:cNvGraphicFramePr>
          <p:nvPr/>
        </p:nvGraphicFramePr>
        <p:xfrm>
          <a:off x="5791200" y="2393950"/>
          <a:ext cx="2479675" cy="1274763"/>
        </p:xfrm>
        <a:graphic>
          <a:graphicData uri="http://schemas.openxmlformats.org/presentationml/2006/ole">
            <mc:AlternateContent xmlns:mc="http://schemas.openxmlformats.org/markup-compatibility/2006">
              <mc:Choice xmlns:v="urn:schemas-microsoft-com:vml" Requires="v">
                <p:oleObj spid="_x0000_s1027" name="Equation" r:id="rId5" imgW="889000" imgH="457200" progId="Equation.3">
                  <p:embed/>
                </p:oleObj>
              </mc:Choice>
              <mc:Fallback>
                <p:oleObj name="Equation" r:id="rId5" imgW="889000" imgH="457200" progId="Equation.3">
                  <p:embed/>
                  <p:pic>
                    <p:nvPicPr>
                      <p:cNvPr id="245767" name="Object 7">
                        <a:extLst>
                          <a:ext uri="{FF2B5EF4-FFF2-40B4-BE49-F238E27FC236}">
                            <a16:creationId xmlns:a16="http://schemas.microsoft.com/office/drawing/2014/main" id="{05612157-6177-4756-8019-7D880926DD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2393950"/>
                        <a:ext cx="2479675" cy="12747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768" name="Text Box 8">
            <a:extLst>
              <a:ext uri="{FF2B5EF4-FFF2-40B4-BE49-F238E27FC236}">
                <a16:creationId xmlns:a16="http://schemas.microsoft.com/office/drawing/2014/main" id="{721D05E0-2DC0-4961-B786-60511DF16F50}"/>
              </a:ext>
            </a:extLst>
          </p:cNvPr>
          <p:cNvSpPr txBox="1">
            <a:spLocks noChangeArrowheads="1"/>
          </p:cNvSpPr>
          <p:nvPr/>
        </p:nvSpPr>
        <p:spPr bwMode="auto">
          <a:xfrm>
            <a:off x="533400" y="4038600"/>
            <a:ext cx="5486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solidFill>
                  <a:srgbClr val="0125FF"/>
                </a:solidFill>
                <a:latin typeface="Times New Roman" panose="02020603050405020304" pitchFamily="18" charset="0"/>
              </a:rPr>
              <a:t>Opinion poll responses</a:t>
            </a:r>
          </a:p>
        </p:txBody>
      </p:sp>
      <p:graphicFrame>
        <p:nvGraphicFramePr>
          <p:cNvPr id="245769" name="Object 9">
            <a:extLst>
              <a:ext uri="{FF2B5EF4-FFF2-40B4-BE49-F238E27FC236}">
                <a16:creationId xmlns:a16="http://schemas.microsoft.com/office/drawing/2014/main" id="{12F7D96E-2DC0-40AF-B451-2166CC85E9DB}"/>
              </a:ext>
            </a:extLst>
          </p:cNvPr>
          <p:cNvGraphicFramePr>
            <a:graphicFrameLocks noChangeAspect="1"/>
          </p:cNvGraphicFramePr>
          <p:nvPr/>
        </p:nvGraphicFramePr>
        <p:xfrm>
          <a:off x="6003925" y="3840163"/>
          <a:ext cx="2549525" cy="1982787"/>
        </p:xfrm>
        <a:graphic>
          <a:graphicData uri="http://schemas.openxmlformats.org/presentationml/2006/ole">
            <mc:AlternateContent xmlns:mc="http://schemas.openxmlformats.org/markup-compatibility/2006">
              <mc:Choice xmlns:v="urn:schemas-microsoft-com:vml" Requires="v">
                <p:oleObj spid="_x0000_s1028" name="Equation" r:id="rId7" imgW="914400" imgH="711200" progId="Equation.3">
                  <p:embed/>
                </p:oleObj>
              </mc:Choice>
              <mc:Fallback>
                <p:oleObj name="Equation" r:id="rId7" imgW="914400" imgH="711200" progId="Equation.3">
                  <p:embed/>
                  <p:pic>
                    <p:nvPicPr>
                      <p:cNvPr id="245769" name="Object 9">
                        <a:extLst>
                          <a:ext uri="{FF2B5EF4-FFF2-40B4-BE49-F238E27FC236}">
                            <a16:creationId xmlns:a16="http://schemas.microsoft.com/office/drawing/2014/main" id="{12F7D96E-2DC0-40AF-B451-2166CC85E9D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03925" y="3840163"/>
                        <a:ext cx="2549525" cy="19827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0">
            <a:extLst>
              <a:ext uri="{FF2B5EF4-FFF2-40B4-BE49-F238E27FC236}">
                <a16:creationId xmlns:a16="http://schemas.microsoft.com/office/drawing/2014/main" id="{FCC09032-F8BD-45FA-9BA6-F26B23EE3A36}"/>
              </a:ext>
            </a:extLst>
          </p:cNvPr>
          <p:cNvGrpSpPr>
            <a:grpSpLocks/>
          </p:cNvGrpSpPr>
          <p:nvPr/>
        </p:nvGrpSpPr>
        <p:grpSpPr bwMode="auto">
          <a:xfrm>
            <a:off x="1600200" y="1708150"/>
            <a:ext cx="4572000" cy="1111250"/>
            <a:chOff x="1008" y="1728"/>
            <a:chExt cx="2592" cy="768"/>
          </a:xfrm>
        </p:grpSpPr>
        <p:sp>
          <p:nvSpPr>
            <p:cNvPr id="18444" name="Text Box 11">
              <a:extLst>
                <a:ext uri="{FF2B5EF4-FFF2-40B4-BE49-F238E27FC236}">
                  <a16:creationId xmlns:a16="http://schemas.microsoft.com/office/drawing/2014/main" id="{A2C69BF9-07BD-4B7C-B497-88C2614AAFCE}"/>
                </a:ext>
              </a:extLst>
            </p:cNvPr>
            <p:cNvSpPr txBox="1">
              <a:spLocks noChangeArrowheads="1"/>
            </p:cNvSpPr>
            <p:nvPr/>
          </p:nvSpPr>
          <p:spPr bwMode="auto">
            <a:xfrm>
              <a:off x="1008" y="1872"/>
              <a:ext cx="1968" cy="447"/>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latin typeface="Times New Roman" panose="02020603050405020304" pitchFamily="18" charset="0"/>
                </a:rPr>
                <a:t>Binary Response</a:t>
              </a:r>
            </a:p>
          </p:txBody>
        </p:sp>
        <p:sp>
          <p:nvSpPr>
            <p:cNvPr id="18445" name="Line 12">
              <a:extLst>
                <a:ext uri="{FF2B5EF4-FFF2-40B4-BE49-F238E27FC236}">
                  <a16:creationId xmlns:a16="http://schemas.microsoft.com/office/drawing/2014/main" id="{11C82B65-2021-49FB-8FBB-387DDDB84778}"/>
                </a:ext>
              </a:extLst>
            </p:cNvPr>
            <p:cNvSpPr>
              <a:spLocks noChangeShapeType="1"/>
            </p:cNvSpPr>
            <p:nvPr/>
          </p:nvSpPr>
          <p:spPr bwMode="auto">
            <a:xfrm flipV="1">
              <a:off x="2880" y="1728"/>
              <a:ext cx="624"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18446" name="Line 13">
              <a:extLst>
                <a:ext uri="{FF2B5EF4-FFF2-40B4-BE49-F238E27FC236}">
                  <a16:creationId xmlns:a16="http://schemas.microsoft.com/office/drawing/2014/main" id="{1D4D295B-08DE-458F-9A92-023FF85186C5}"/>
                </a:ext>
              </a:extLst>
            </p:cNvPr>
            <p:cNvSpPr>
              <a:spLocks noChangeShapeType="1"/>
            </p:cNvSpPr>
            <p:nvPr/>
          </p:nvSpPr>
          <p:spPr bwMode="auto">
            <a:xfrm>
              <a:off x="2928" y="2112"/>
              <a:ext cx="672" cy="384"/>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grpSp>
      <p:sp>
        <p:nvSpPr>
          <p:cNvPr id="245774" name="Text Box 14">
            <a:extLst>
              <a:ext uri="{FF2B5EF4-FFF2-40B4-BE49-F238E27FC236}">
                <a16:creationId xmlns:a16="http://schemas.microsoft.com/office/drawing/2014/main" id="{B311C5AA-84D1-4881-98F6-016391A60807}"/>
              </a:ext>
            </a:extLst>
          </p:cNvPr>
          <p:cNvSpPr txBox="1">
            <a:spLocks noChangeArrowheads="1"/>
          </p:cNvSpPr>
          <p:nvPr/>
        </p:nvSpPr>
        <p:spPr bwMode="auto">
          <a:xfrm>
            <a:off x="1498600" y="4724400"/>
            <a:ext cx="3581400" cy="64611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latin typeface="Times New Roman" panose="02020603050405020304" pitchFamily="18" charset="0"/>
              </a:rPr>
              <a:t>Ordinal Response</a:t>
            </a:r>
          </a:p>
        </p:txBody>
      </p:sp>
      <p:sp>
        <p:nvSpPr>
          <p:cNvPr id="245775" name="Line 15">
            <a:extLst>
              <a:ext uri="{FF2B5EF4-FFF2-40B4-BE49-F238E27FC236}">
                <a16:creationId xmlns:a16="http://schemas.microsoft.com/office/drawing/2014/main" id="{C72536AC-A458-4FBC-BC64-FDEE11D1F7B9}"/>
              </a:ext>
            </a:extLst>
          </p:cNvPr>
          <p:cNvSpPr>
            <a:spLocks noChangeShapeType="1"/>
          </p:cNvSpPr>
          <p:nvPr/>
        </p:nvSpPr>
        <p:spPr bwMode="auto">
          <a:xfrm flipV="1">
            <a:off x="5029200" y="4832350"/>
            <a:ext cx="914400" cy="27305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7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45764"/>
                                        </p:tgtEl>
                                        <p:attrNameLst>
                                          <p:attrName>style.visibility</p:attrName>
                                        </p:attrNameLst>
                                      </p:cBhvr>
                                      <p:to>
                                        <p:strVal val="visible"/>
                                      </p:to>
                                    </p:set>
                                    <p:animEffect transition="in" filter="wipe(left)">
                                      <p:cBhvr>
                                        <p:cTn id="11" dur="500"/>
                                        <p:tgtEl>
                                          <p:spTgt spid="245764"/>
                                        </p:tgtEl>
                                      </p:cBhvr>
                                    </p:animEffect>
                                  </p:childTnLst>
                                </p:cTn>
                              </p:par>
                            </p:childTnLst>
                          </p:cTn>
                        </p:par>
                        <p:par>
                          <p:cTn id="12" fill="hold" nodeType="afterGroup">
                            <p:stCondLst>
                              <p:cond delay="500"/>
                            </p:stCondLst>
                            <p:childTnLst>
                              <p:par>
                                <p:cTn id="13" presetID="17" presetClass="entr" presetSubtype="8" fill="hold" nodeType="afterEffect">
                                  <p:stCondLst>
                                    <p:cond delay="0"/>
                                  </p:stCondLst>
                                  <p:childTnLst>
                                    <p:set>
                                      <p:cBhvr>
                                        <p:cTn id="14" dur="1" fill="hold">
                                          <p:stCondLst>
                                            <p:cond delay="0"/>
                                          </p:stCondLst>
                                        </p:cTn>
                                        <p:tgtEl>
                                          <p:spTgt spid="245765"/>
                                        </p:tgtEl>
                                        <p:attrNameLst>
                                          <p:attrName>style.visibility</p:attrName>
                                        </p:attrNameLst>
                                      </p:cBhvr>
                                      <p:to>
                                        <p:strVal val="visible"/>
                                      </p:to>
                                    </p:set>
                                    <p:anim calcmode="lin" valueType="num">
                                      <p:cBhvr>
                                        <p:cTn id="15" dur="500" fill="hold"/>
                                        <p:tgtEl>
                                          <p:spTgt spid="245765"/>
                                        </p:tgtEl>
                                        <p:attrNameLst>
                                          <p:attrName>ppt_x</p:attrName>
                                        </p:attrNameLst>
                                      </p:cBhvr>
                                      <p:tavLst>
                                        <p:tav tm="0">
                                          <p:val>
                                            <p:strVal val="#ppt_x-#ppt_w/2"/>
                                          </p:val>
                                        </p:tav>
                                        <p:tav tm="100000">
                                          <p:val>
                                            <p:strVal val="#ppt_x"/>
                                          </p:val>
                                        </p:tav>
                                      </p:tavLst>
                                    </p:anim>
                                    <p:anim calcmode="lin" valueType="num">
                                      <p:cBhvr>
                                        <p:cTn id="16" dur="500" fill="hold"/>
                                        <p:tgtEl>
                                          <p:spTgt spid="245765"/>
                                        </p:tgtEl>
                                        <p:attrNameLst>
                                          <p:attrName>ppt_y</p:attrName>
                                        </p:attrNameLst>
                                      </p:cBhvr>
                                      <p:tavLst>
                                        <p:tav tm="0">
                                          <p:val>
                                            <p:strVal val="#ppt_y"/>
                                          </p:val>
                                        </p:tav>
                                        <p:tav tm="100000">
                                          <p:val>
                                            <p:strVal val="#ppt_y"/>
                                          </p:val>
                                        </p:tav>
                                      </p:tavLst>
                                    </p:anim>
                                    <p:anim calcmode="lin" valueType="num">
                                      <p:cBhvr>
                                        <p:cTn id="17" dur="500" fill="hold"/>
                                        <p:tgtEl>
                                          <p:spTgt spid="245765"/>
                                        </p:tgtEl>
                                        <p:attrNameLst>
                                          <p:attrName>ppt_w</p:attrName>
                                        </p:attrNameLst>
                                      </p:cBhvr>
                                      <p:tavLst>
                                        <p:tav tm="0">
                                          <p:val>
                                            <p:fltVal val="0"/>
                                          </p:val>
                                        </p:tav>
                                        <p:tav tm="100000">
                                          <p:val>
                                            <p:strVal val="#ppt_w"/>
                                          </p:val>
                                        </p:tav>
                                      </p:tavLst>
                                    </p:anim>
                                    <p:anim calcmode="lin" valueType="num">
                                      <p:cBhvr>
                                        <p:cTn id="18" dur="500" fill="hold"/>
                                        <p:tgtEl>
                                          <p:spTgt spid="245765"/>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45766"/>
                                        </p:tgtEl>
                                        <p:attrNameLst>
                                          <p:attrName>style.visibility</p:attrName>
                                        </p:attrNameLst>
                                      </p:cBhvr>
                                      <p:to>
                                        <p:strVal val="visible"/>
                                      </p:to>
                                    </p:set>
                                    <p:animEffect transition="in" filter="wipe(left)">
                                      <p:cBhvr>
                                        <p:cTn id="23" dur="500"/>
                                        <p:tgtEl>
                                          <p:spTgt spid="245766"/>
                                        </p:tgtEl>
                                      </p:cBhvr>
                                    </p:animEffect>
                                  </p:childTnLst>
                                </p:cTn>
                              </p:par>
                            </p:childTnLst>
                          </p:cTn>
                        </p:par>
                        <p:par>
                          <p:cTn id="24" fill="hold" nodeType="afterGroup">
                            <p:stCondLst>
                              <p:cond delay="500"/>
                            </p:stCondLst>
                            <p:childTnLst>
                              <p:par>
                                <p:cTn id="25" presetID="17" presetClass="entr" presetSubtype="8" fill="hold" nodeType="afterEffect">
                                  <p:stCondLst>
                                    <p:cond delay="0"/>
                                  </p:stCondLst>
                                  <p:childTnLst>
                                    <p:set>
                                      <p:cBhvr>
                                        <p:cTn id="26" dur="1" fill="hold">
                                          <p:stCondLst>
                                            <p:cond delay="0"/>
                                          </p:stCondLst>
                                        </p:cTn>
                                        <p:tgtEl>
                                          <p:spTgt spid="245767"/>
                                        </p:tgtEl>
                                        <p:attrNameLst>
                                          <p:attrName>style.visibility</p:attrName>
                                        </p:attrNameLst>
                                      </p:cBhvr>
                                      <p:to>
                                        <p:strVal val="visible"/>
                                      </p:to>
                                    </p:set>
                                    <p:anim calcmode="lin" valueType="num">
                                      <p:cBhvr>
                                        <p:cTn id="27" dur="500" fill="hold"/>
                                        <p:tgtEl>
                                          <p:spTgt spid="245767"/>
                                        </p:tgtEl>
                                        <p:attrNameLst>
                                          <p:attrName>ppt_x</p:attrName>
                                        </p:attrNameLst>
                                      </p:cBhvr>
                                      <p:tavLst>
                                        <p:tav tm="0">
                                          <p:val>
                                            <p:strVal val="#ppt_x-#ppt_w/2"/>
                                          </p:val>
                                        </p:tav>
                                        <p:tav tm="100000">
                                          <p:val>
                                            <p:strVal val="#ppt_x"/>
                                          </p:val>
                                        </p:tav>
                                      </p:tavLst>
                                    </p:anim>
                                    <p:anim calcmode="lin" valueType="num">
                                      <p:cBhvr>
                                        <p:cTn id="28" dur="500" fill="hold"/>
                                        <p:tgtEl>
                                          <p:spTgt spid="245767"/>
                                        </p:tgtEl>
                                        <p:attrNameLst>
                                          <p:attrName>ppt_y</p:attrName>
                                        </p:attrNameLst>
                                      </p:cBhvr>
                                      <p:tavLst>
                                        <p:tav tm="0">
                                          <p:val>
                                            <p:strVal val="#ppt_y"/>
                                          </p:val>
                                        </p:tav>
                                        <p:tav tm="100000">
                                          <p:val>
                                            <p:strVal val="#ppt_y"/>
                                          </p:val>
                                        </p:tav>
                                      </p:tavLst>
                                    </p:anim>
                                    <p:anim calcmode="lin" valueType="num">
                                      <p:cBhvr>
                                        <p:cTn id="29" dur="500" fill="hold"/>
                                        <p:tgtEl>
                                          <p:spTgt spid="245767"/>
                                        </p:tgtEl>
                                        <p:attrNameLst>
                                          <p:attrName>ppt_w</p:attrName>
                                        </p:attrNameLst>
                                      </p:cBhvr>
                                      <p:tavLst>
                                        <p:tav tm="0">
                                          <p:val>
                                            <p:fltVal val="0"/>
                                          </p:val>
                                        </p:tav>
                                        <p:tav tm="100000">
                                          <p:val>
                                            <p:strVal val="#ppt_w"/>
                                          </p:val>
                                        </p:tav>
                                      </p:tavLst>
                                    </p:anim>
                                    <p:anim calcmode="lin" valueType="num">
                                      <p:cBhvr>
                                        <p:cTn id="30" dur="500" fill="hold"/>
                                        <p:tgtEl>
                                          <p:spTgt spid="245767"/>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500" fill="hold"/>
                                        <p:tgtEl>
                                          <p:spTgt spid="2"/>
                                        </p:tgtEl>
                                        <p:attrNameLst>
                                          <p:attrName>ppt_x</p:attrName>
                                        </p:attrNameLst>
                                      </p:cBhvr>
                                      <p:tavLst>
                                        <p:tav tm="0">
                                          <p:val>
                                            <p:strVal val="#ppt_x-#ppt_w/2"/>
                                          </p:val>
                                        </p:tav>
                                        <p:tav tm="100000">
                                          <p:val>
                                            <p:strVal val="#ppt_x"/>
                                          </p:val>
                                        </p:tav>
                                      </p:tavLst>
                                    </p:anim>
                                    <p:anim calcmode="lin" valueType="num">
                                      <p:cBhvr>
                                        <p:cTn id="36" dur="500" fill="hold"/>
                                        <p:tgtEl>
                                          <p:spTgt spid="2"/>
                                        </p:tgtEl>
                                        <p:attrNameLst>
                                          <p:attrName>ppt_y</p:attrName>
                                        </p:attrNameLst>
                                      </p:cBhvr>
                                      <p:tavLst>
                                        <p:tav tm="0">
                                          <p:val>
                                            <p:strVal val="#ppt_y"/>
                                          </p:val>
                                        </p:tav>
                                        <p:tav tm="100000">
                                          <p:val>
                                            <p:strVal val="#ppt_y"/>
                                          </p:val>
                                        </p:tav>
                                      </p:tavLst>
                                    </p:anim>
                                    <p:anim calcmode="lin" valueType="num">
                                      <p:cBhvr>
                                        <p:cTn id="37" dur="500" fill="hold"/>
                                        <p:tgtEl>
                                          <p:spTgt spid="2"/>
                                        </p:tgtEl>
                                        <p:attrNameLst>
                                          <p:attrName>ppt_w</p:attrName>
                                        </p:attrNameLst>
                                      </p:cBhvr>
                                      <p:tavLst>
                                        <p:tav tm="0">
                                          <p:val>
                                            <p:fltVal val="0"/>
                                          </p:val>
                                        </p:tav>
                                        <p:tav tm="100000">
                                          <p:val>
                                            <p:strVal val="#ppt_w"/>
                                          </p:val>
                                        </p:tav>
                                      </p:tavLst>
                                    </p:anim>
                                    <p:anim calcmode="lin" valueType="num">
                                      <p:cBhvr>
                                        <p:cTn id="3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45768"/>
                                        </p:tgtEl>
                                        <p:attrNameLst>
                                          <p:attrName>style.visibility</p:attrName>
                                        </p:attrNameLst>
                                      </p:cBhvr>
                                      <p:to>
                                        <p:strVal val="visible"/>
                                      </p:to>
                                    </p:set>
                                    <p:animEffect transition="in" filter="wipe(left)">
                                      <p:cBhvr>
                                        <p:cTn id="43" dur="500"/>
                                        <p:tgtEl>
                                          <p:spTgt spid="245768"/>
                                        </p:tgtEl>
                                      </p:cBhvr>
                                    </p:animEffect>
                                  </p:childTnLst>
                                </p:cTn>
                              </p:par>
                            </p:childTnLst>
                          </p:cTn>
                        </p:par>
                        <p:par>
                          <p:cTn id="44" fill="hold" nodeType="afterGroup">
                            <p:stCondLst>
                              <p:cond delay="500"/>
                            </p:stCondLst>
                            <p:childTnLst>
                              <p:par>
                                <p:cTn id="45" presetID="17" presetClass="entr" presetSubtype="8" fill="hold" nodeType="afterEffect">
                                  <p:stCondLst>
                                    <p:cond delay="0"/>
                                  </p:stCondLst>
                                  <p:childTnLst>
                                    <p:set>
                                      <p:cBhvr>
                                        <p:cTn id="46" dur="1" fill="hold">
                                          <p:stCondLst>
                                            <p:cond delay="0"/>
                                          </p:stCondLst>
                                        </p:cTn>
                                        <p:tgtEl>
                                          <p:spTgt spid="245769"/>
                                        </p:tgtEl>
                                        <p:attrNameLst>
                                          <p:attrName>style.visibility</p:attrName>
                                        </p:attrNameLst>
                                      </p:cBhvr>
                                      <p:to>
                                        <p:strVal val="visible"/>
                                      </p:to>
                                    </p:set>
                                    <p:anim calcmode="lin" valueType="num">
                                      <p:cBhvr>
                                        <p:cTn id="47" dur="500" fill="hold"/>
                                        <p:tgtEl>
                                          <p:spTgt spid="245769"/>
                                        </p:tgtEl>
                                        <p:attrNameLst>
                                          <p:attrName>ppt_x</p:attrName>
                                        </p:attrNameLst>
                                      </p:cBhvr>
                                      <p:tavLst>
                                        <p:tav tm="0">
                                          <p:val>
                                            <p:strVal val="#ppt_x-#ppt_w/2"/>
                                          </p:val>
                                        </p:tav>
                                        <p:tav tm="100000">
                                          <p:val>
                                            <p:strVal val="#ppt_x"/>
                                          </p:val>
                                        </p:tav>
                                      </p:tavLst>
                                    </p:anim>
                                    <p:anim calcmode="lin" valueType="num">
                                      <p:cBhvr>
                                        <p:cTn id="48" dur="500" fill="hold"/>
                                        <p:tgtEl>
                                          <p:spTgt spid="245769"/>
                                        </p:tgtEl>
                                        <p:attrNameLst>
                                          <p:attrName>ppt_y</p:attrName>
                                        </p:attrNameLst>
                                      </p:cBhvr>
                                      <p:tavLst>
                                        <p:tav tm="0">
                                          <p:val>
                                            <p:strVal val="#ppt_y"/>
                                          </p:val>
                                        </p:tav>
                                        <p:tav tm="100000">
                                          <p:val>
                                            <p:strVal val="#ppt_y"/>
                                          </p:val>
                                        </p:tav>
                                      </p:tavLst>
                                    </p:anim>
                                    <p:anim calcmode="lin" valueType="num">
                                      <p:cBhvr>
                                        <p:cTn id="49" dur="500" fill="hold"/>
                                        <p:tgtEl>
                                          <p:spTgt spid="245769"/>
                                        </p:tgtEl>
                                        <p:attrNameLst>
                                          <p:attrName>ppt_w</p:attrName>
                                        </p:attrNameLst>
                                      </p:cBhvr>
                                      <p:tavLst>
                                        <p:tav tm="0">
                                          <p:val>
                                            <p:fltVal val="0"/>
                                          </p:val>
                                        </p:tav>
                                        <p:tav tm="100000">
                                          <p:val>
                                            <p:strVal val="#ppt_w"/>
                                          </p:val>
                                        </p:tav>
                                      </p:tavLst>
                                    </p:anim>
                                    <p:anim calcmode="lin" valueType="num">
                                      <p:cBhvr>
                                        <p:cTn id="50" dur="500" fill="hold"/>
                                        <p:tgtEl>
                                          <p:spTgt spid="245769"/>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245774"/>
                                        </p:tgtEl>
                                        <p:attrNameLst>
                                          <p:attrName>style.visibility</p:attrName>
                                        </p:attrNameLst>
                                      </p:cBhvr>
                                      <p:to>
                                        <p:strVal val="visible"/>
                                      </p:to>
                                    </p:se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245775"/>
                                        </p:tgtEl>
                                        <p:attrNameLst>
                                          <p:attrName>style.visibility</p:attrName>
                                        </p:attrNameLst>
                                      </p:cBhvr>
                                      <p:to>
                                        <p:strVal val="visible"/>
                                      </p:to>
                                    </p:set>
                                    <p:animEffect transition="in" filter="wipe(left)">
                                      <p:cBhvr>
                                        <p:cTn id="58" dur="500"/>
                                        <p:tgtEl>
                                          <p:spTgt spid="245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autoUpdateAnimBg="0"/>
      <p:bldP spid="245764" grpId="0" autoUpdateAnimBg="0"/>
      <p:bldP spid="245766" grpId="0" autoUpdateAnimBg="0"/>
      <p:bldP spid="245768" grpId="0" autoUpdateAnimBg="0"/>
      <p:bldP spid="245774"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8FE6981-5996-43C9-8620-E66B380A147E}"/>
              </a:ext>
            </a:extLst>
          </p:cNvPr>
          <p:cNvSpPr>
            <a:spLocks noGrp="1" noChangeArrowheads="1"/>
          </p:cNvSpPr>
          <p:nvPr>
            <p:ph type="title"/>
          </p:nvPr>
        </p:nvSpPr>
        <p:spPr>
          <a:xfrm>
            <a:off x="685800" y="0"/>
            <a:ext cx="8305800" cy="533400"/>
          </a:xfrm>
        </p:spPr>
        <p:txBody>
          <a:bodyPr>
            <a:normAutofit fontScale="90000"/>
          </a:bodyPr>
          <a:lstStyle/>
          <a:p>
            <a:pPr>
              <a:defRPr/>
            </a:pPr>
            <a:r>
              <a:rPr lang="en-US" sz="3200" dirty="0">
                <a:solidFill>
                  <a:srgbClr val="0125FF"/>
                </a:solidFill>
                <a:ea typeface="ＭＳ Ｐゴシック" charset="0"/>
                <a:cs typeface="ＭＳ Ｐゴシック" charset="0"/>
              </a:rPr>
              <a:t>Example: Height predicts Gender</a:t>
            </a:r>
          </a:p>
        </p:txBody>
      </p:sp>
      <p:sp>
        <p:nvSpPr>
          <p:cNvPr id="232451" name="Text Box 3">
            <a:extLst>
              <a:ext uri="{FF2B5EF4-FFF2-40B4-BE49-F238E27FC236}">
                <a16:creationId xmlns:a16="http://schemas.microsoft.com/office/drawing/2014/main" id="{BE31D731-CC0C-4167-823C-92A9AE446083}"/>
              </a:ext>
            </a:extLst>
          </p:cNvPr>
          <p:cNvSpPr txBox="1">
            <a:spLocks noChangeArrowheads="1"/>
          </p:cNvSpPr>
          <p:nvPr/>
        </p:nvSpPr>
        <p:spPr bwMode="auto">
          <a:xfrm>
            <a:off x="304800" y="533400"/>
            <a:ext cx="68580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200">
                <a:solidFill>
                  <a:srgbClr val="0125FF"/>
                </a:solidFill>
                <a:latin typeface="Times New Roman" panose="02020603050405020304" pitchFamily="18" charset="0"/>
              </a:rPr>
              <a:t>Y = Gender (0=Male 1=Female)</a:t>
            </a:r>
          </a:p>
          <a:p>
            <a:r>
              <a:rPr lang="en-US" altLang="en-US" sz="3200">
                <a:solidFill>
                  <a:srgbClr val="0125FF"/>
                </a:solidFill>
                <a:latin typeface="Times New Roman" panose="02020603050405020304" pitchFamily="18" charset="0"/>
              </a:rPr>
              <a:t>X = Height (inches)</a:t>
            </a:r>
          </a:p>
        </p:txBody>
      </p:sp>
      <p:sp>
        <p:nvSpPr>
          <p:cNvPr id="232452" name="Text Box 4">
            <a:extLst>
              <a:ext uri="{FF2B5EF4-FFF2-40B4-BE49-F238E27FC236}">
                <a16:creationId xmlns:a16="http://schemas.microsoft.com/office/drawing/2014/main" id="{67812070-2AEC-4CC9-B2BF-BD5BE1FC3874}"/>
              </a:ext>
            </a:extLst>
          </p:cNvPr>
          <p:cNvSpPr txBox="1">
            <a:spLocks noChangeArrowheads="1"/>
          </p:cNvSpPr>
          <p:nvPr/>
        </p:nvSpPr>
        <p:spPr bwMode="auto">
          <a:xfrm>
            <a:off x="762000" y="1612900"/>
            <a:ext cx="6203950" cy="6413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solidFill>
                  <a:srgbClr val="FFFF66"/>
                </a:solidFill>
                <a:latin typeface="Times New Roman" panose="02020603050405020304" pitchFamily="18" charset="0"/>
              </a:rPr>
              <a:t>Try an ordinary linear regression</a:t>
            </a:r>
          </a:p>
        </p:txBody>
      </p:sp>
      <p:sp>
        <p:nvSpPr>
          <p:cNvPr id="6" name="Text Box 3">
            <a:extLst>
              <a:ext uri="{FF2B5EF4-FFF2-40B4-BE49-F238E27FC236}">
                <a16:creationId xmlns:a16="http://schemas.microsoft.com/office/drawing/2014/main" id="{4713A9C6-82C0-4E57-8D91-6DDFEEDC67D2}"/>
              </a:ext>
            </a:extLst>
          </p:cNvPr>
          <p:cNvSpPr txBox="1">
            <a:spLocks noChangeArrowheads="1"/>
          </p:cNvSpPr>
          <p:nvPr/>
        </p:nvSpPr>
        <p:spPr bwMode="auto">
          <a:xfrm>
            <a:off x="0" y="2162175"/>
            <a:ext cx="8991600" cy="857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b="1">
                <a:latin typeface="Courier New" panose="02070309020205020404" pitchFamily="49" charset="0"/>
              </a:rPr>
              <a:t>&gt;</a:t>
            </a:r>
            <a:r>
              <a:rPr lang="en-US" altLang="en-US" b="1">
                <a:solidFill>
                  <a:srgbClr val="FF0000"/>
                </a:solidFill>
                <a:latin typeface="Courier New" panose="02070309020205020404" pitchFamily="49" charset="0"/>
              </a:rPr>
              <a:t> regmodel=lm(Gender~Hgt,data=Pulse)</a:t>
            </a:r>
          </a:p>
          <a:p>
            <a:r>
              <a:rPr lang="en-US" altLang="en-US" b="1">
                <a:latin typeface="Courier New" panose="02070309020205020404" pitchFamily="49" charset="0"/>
              </a:rPr>
              <a:t>&gt;</a:t>
            </a:r>
            <a:r>
              <a:rPr lang="en-US" altLang="en-US" b="1">
                <a:solidFill>
                  <a:srgbClr val="FF0000"/>
                </a:solidFill>
                <a:latin typeface="Courier New" panose="02070309020205020404" pitchFamily="49" charset="0"/>
              </a:rPr>
              <a:t> summary(regmodel)</a:t>
            </a:r>
          </a:p>
        </p:txBody>
      </p:sp>
      <p:sp>
        <p:nvSpPr>
          <p:cNvPr id="7" name="Text Box 4">
            <a:extLst>
              <a:ext uri="{FF2B5EF4-FFF2-40B4-BE49-F238E27FC236}">
                <a16:creationId xmlns:a16="http://schemas.microsoft.com/office/drawing/2014/main" id="{779C1D7C-2735-4161-99B6-7DBCFBA9ABC4}"/>
              </a:ext>
            </a:extLst>
          </p:cNvPr>
          <p:cNvSpPr txBox="1">
            <a:spLocks noChangeArrowheads="1"/>
          </p:cNvSpPr>
          <p:nvPr/>
        </p:nvSpPr>
        <p:spPr bwMode="auto">
          <a:xfrm>
            <a:off x="0" y="3019425"/>
            <a:ext cx="9144000" cy="1323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600" b="1">
                <a:latin typeface="Courier New" panose="02070309020205020404" pitchFamily="49" charset="0"/>
              </a:rPr>
              <a:t>Coefficients:</a:t>
            </a:r>
          </a:p>
          <a:p>
            <a:r>
              <a:rPr lang="en-US" altLang="en-US" sz="1600" b="1">
                <a:latin typeface="Courier New" panose="02070309020205020404" pitchFamily="49" charset="0"/>
              </a:rPr>
              <a:t>             Estimate Std. Error t value Pr(&gt;|t|)    </a:t>
            </a:r>
          </a:p>
          <a:p>
            <a:r>
              <a:rPr lang="en-US" altLang="en-US" sz="1600" b="1">
                <a:latin typeface="Courier New" panose="02070309020205020404" pitchFamily="49" charset="0"/>
              </a:rPr>
              <a:t>(Intercept)  7.343647   0.397563   18.47   &lt;2e-16 ***</a:t>
            </a:r>
          </a:p>
          <a:p>
            <a:r>
              <a:rPr lang="en-US" altLang="en-US" sz="1600" b="1">
                <a:latin typeface="Courier New" panose="02070309020205020404" pitchFamily="49" charset="0"/>
              </a:rPr>
              <a:t>Hgt         -0.100658   0.005817  -17.30   &lt;2e-16 ***</a:t>
            </a:r>
          </a:p>
          <a:p>
            <a:endParaRPr lang="en-US" altLang="en-US" sz="1600" b="1">
              <a:latin typeface="Courier New" panose="020703090202050204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24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245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3245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build="p" autoUpdateAnimBg="0"/>
      <p:bldP spid="232452" grpId="0" animBg="1" autoUpdateAnimBg="0"/>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3">
            <a:extLst>
              <a:ext uri="{FF2B5EF4-FFF2-40B4-BE49-F238E27FC236}">
                <a16:creationId xmlns:a16="http://schemas.microsoft.com/office/drawing/2014/main" id="{D8EBBFB3-B1A9-4F98-84A7-EAB24C3B598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87438" y="239713"/>
            <a:ext cx="6251575" cy="4479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DD8B845E-FA0E-4CCC-B9D7-EB7CFA540EB0}"/>
              </a:ext>
            </a:extLst>
          </p:cNvPr>
          <p:cNvSpPr>
            <a:spLocks noGrp="1"/>
          </p:cNvSpPr>
          <p:nvPr>
            <p:ph type="title"/>
          </p:nvPr>
        </p:nvSpPr>
        <p:spPr>
          <a:xfrm>
            <a:off x="685800" y="0"/>
            <a:ext cx="7772400" cy="609600"/>
          </a:xfrm>
        </p:spPr>
        <p:txBody>
          <a:bodyPr/>
          <a:lstStyle/>
          <a:p>
            <a:r>
              <a:rPr lang="el-GR" altLang="en-US" sz="3200">
                <a:solidFill>
                  <a:srgbClr val="0125FF"/>
                </a:solidFill>
                <a:latin typeface="Times New Roman" panose="02020603050405020304" pitchFamily="18" charset="0"/>
              </a:rPr>
              <a:t>π</a:t>
            </a:r>
            <a:r>
              <a:rPr lang="en-US" altLang="en-US" sz="3200">
                <a:solidFill>
                  <a:srgbClr val="0125FF"/>
                </a:solidFill>
                <a:latin typeface="Times New Roman" panose="02020603050405020304" pitchFamily="18" charset="0"/>
              </a:rPr>
              <a:t> = Proportion of </a:t>
            </a:r>
            <a:r>
              <a:rPr lang="ja-JP" altLang="en-US" sz="3200">
                <a:solidFill>
                  <a:srgbClr val="0125FF"/>
                </a:solidFill>
                <a:latin typeface="Times New Roman" panose="02020603050405020304" pitchFamily="18" charset="0"/>
              </a:rPr>
              <a:t>“</a:t>
            </a:r>
            <a:r>
              <a:rPr lang="en-US" altLang="ja-JP" sz="3200">
                <a:solidFill>
                  <a:srgbClr val="0125FF"/>
                </a:solidFill>
                <a:latin typeface="Times New Roman" panose="02020603050405020304" pitchFamily="18" charset="0"/>
              </a:rPr>
              <a:t>Success</a:t>
            </a:r>
            <a:r>
              <a:rPr lang="ja-JP" altLang="en-US" sz="3200">
                <a:solidFill>
                  <a:srgbClr val="0125FF"/>
                </a:solidFill>
                <a:latin typeface="Times New Roman" panose="02020603050405020304" pitchFamily="18" charset="0"/>
              </a:rPr>
              <a:t>”</a:t>
            </a:r>
            <a:endParaRPr lang="en-US" altLang="en-US" sz="3200">
              <a:solidFill>
                <a:srgbClr val="0125FF"/>
              </a:solidFill>
              <a:latin typeface="Times New Roman" panose="02020603050405020304" pitchFamily="18" charset="0"/>
            </a:endParaRPr>
          </a:p>
        </p:txBody>
      </p:sp>
      <p:sp>
        <p:nvSpPr>
          <p:cNvPr id="25602" name="TextBox 2">
            <a:extLst>
              <a:ext uri="{FF2B5EF4-FFF2-40B4-BE49-F238E27FC236}">
                <a16:creationId xmlns:a16="http://schemas.microsoft.com/office/drawing/2014/main" id="{30943D1D-EE3F-4886-A095-A8A7B818E55E}"/>
              </a:ext>
            </a:extLst>
          </p:cNvPr>
          <p:cNvSpPr txBox="1">
            <a:spLocks noChangeArrowheads="1"/>
          </p:cNvSpPr>
          <p:nvPr/>
        </p:nvSpPr>
        <p:spPr bwMode="auto">
          <a:xfrm>
            <a:off x="228600" y="762000"/>
            <a:ext cx="8610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solidFill>
                  <a:srgbClr val="0125FF"/>
                </a:solidFill>
                <a:latin typeface="Times New Roman" panose="02020603050405020304" pitchFamily="18" charset="0"/>
              </a:rPr>
              <a:t>In ordinary regression the model predicts the </a:t>
            </a:r>
            <a:r>
              <a:rPr lang="en-US" altLang="en-US" sz="3600" i="1">
                <a:solidFill>
                  <a:srgbClr val="0125FF"/>
                </a:solidFill>
                <a:latin typeface="Times New Roman" panose="02020603050405020304" pitchFamily="18" charset="0"/>
              </a:rPr>
              <a:t>mean</a:t>
            </a:r>
            <a:r>
              <a:rPr lang="en-US" altLang="en-US" sz="3600">
                <a:solidFill>
                  <a:srgbClr val="0125FF"/>
                </a:solidFill>
                <a:latin typeface="Times New Roman" panose="02020603050405020304" pitchFamily="18" charset="0"/>
              </a:rPr>
              <a:t> Y for any combination of predictors.</a:t>
            </a:r>
          </a:p>
        </p:txBody>
      </p:sp>
      <p:sp>
        <p:nvSpPr>
          <p:cNvPr id="4" name="TextBox 3">
            <a:extLst>
              <a:ext uri="{FF2B5EF4-FFF2-40B4-BE49-F238E27FC236}">
                <a16:creationId xmlns:a16="http://schemas.microsoft.com/office/drawing/2014/main" id="{44436CDC-5A1D-4C45-AD11-C50D3219B321}"/>
              </a:ext>
            </a:extLst>
          </p:cNvPr>
          <p:cNvSpPr txBox="1">
            <a:spLocks noChangeArrowheads="1"/>
          </p:cNvSpPr>
          <p:nvPr/>
        </p:nvSpPr>
        <p:spPr bwMode="auto">
          <a:xfrm>
            <a:off x="152400" y="1981200"/>
            <a:ext cx="89646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solidFill>
                  <a:srgbClr val="0125FF"/>
                </a:solidFill>
                <a:latin typeface="Times New Roman" panose="02020603050405020304" pitchFamily="18" charset="0"/>
              </a:rPr>
              <a:t>What’</a:t>
            </a:r>
            <a:r>
              <a:rPr lang="en-US" altLang="ja-JP" sz="3600">
                <a:solidFill>
                  <a:srgbClr val="0125FF"/>
                </a:solidFill>
                <a:latin typeface="Times New Roman" panose="02020603050405020304" pitchFamily="18" charset="0"/>
              </a:rPr>
              <a:t>s the </a:t>
            </a:r>
            <a:r>
              <a:rPr lang="ja-JP" altLang="en-US" sz="3600">
                <a:solidFill>
                  <a:srgbClr val="0125FF"/>
                </a:solidFill>
                <a:latin typeface="Times New Roman" panose="02020603050405020304" pitchFamily="18" charset="0"/>
              </a:rPr>
              <a:t>“</a:t>
            </a:r>
            <a:r>
              <a:rPr lang="en-US" altLang="ja-JP" sz="3600">
                <a:solidFill>
                  <a:srgbClr val="0125FF"/>
                </a:solidFill>
                <a:latin typeface="Times New Roman" panose="02020603050405020304" pitchFamily="18" charset="0"/>
              </a:rPr>
              <a:t>mean</a:t>
            </a:r>
            <a:r>
              <a:rPr lang="ja-JP" altLang="en-US" sz="3600">
                <a:solidFill>
                  <a:srgbClr val="0125FF"/>
                </a:solidFill>
                <a:latin typeface="Times New Roman" panose="02020603050405020304" pitchFamily="18" charset="0"/>
              </a:rPr>
              <a:t>”</a:t>
            </a:r>
            <a:r>
              <a:rPr lang="en-US" altLang="ja-JP" sz="3600">
                <a:solidFill>
                  <a:srgbClr val="0125FF"/>
                </a:solidFill>
                <a:latin typeface="Times New Roman" panose="02020603050405020304" pitchFamily="18" charset="0"/>
              </a:rPr>
              <a:t> of a 0/1 indicator variable?</a:t>
            </a:r>
            <a:endParaRPr lang="en-US" altLang="en-US" sz="3600">
              <a:solidFill>
                <a:srgbClr val="0125FF"/>
              </a:solidFill>
              <a:latin typeface="Times New Roman" panose="02020603050405020304" pitchFamily="18" charset="0"/>
            </a:endParaRPr>
          </a:p>
        </p:txBody>
      </p:sp>
      <p:graphicFrame>
        <p:nvGraphicFramePr>
          <p:cNvPr id="5" name="Object 2">
            <a:extLst>
              <a:ext uri="{FF2B5EF4-FFF2-40B4-BE49-F238E27FC236}">
                <a16:creationId xmlns:a16="http://schemas.microsoft.com/office/drawing/2014/main" id="{9F74CCA1-0248-4F79-9848-CE4EF1AE9D14}"/>
              </a:ext>
            </a:extLst>
          </p:cNvPr>
          <p:cNvGraphicFramePr>
            <a:graphicFrameLocks noChangeAspect="1"/>
          </p:cNvGraphicFramePr>
          <p:nvPr/>
        </p:nvGraphicFramePr>
        <p:xfrm>
          <a:off x="228600" y="2743200"/>
          <a:ext cx="8556625" cy="1152525"/>
        </p:xfrm>
        <a:graphic>
          <a:graphicData uri="http://schemas.openxmlformats.org/presentationml/2006/ole">
            <mc:AlternateContent xmlns:mc="http://schemas.openxmlformats.org/markup-compatibility/2006">
              <mc:Choice xmlns:v="urn:schemas-microsoft-com:vml" Requires="v">
                <p:oleObj spid="_x0000_s2050" name="Equation" r:id="rId3" imgW="2921000" imgH="393700" progId="Equation.3">
                  <p:embed/>
                </p:oleObj>
              </mc:Choice>
              <mc:Fallback>
                <p:oleObj name="Equation" r:id="rId3" imgW="2921000" imgH="393700" progId="Equation.3">
                  <p:embed/>
                  <p:pic>
                    <p:nvPicPr>
                      <p:cNvPr id="5" name="Object 2">
                        <a:extLst>
                          <a:ext uri="{FF2B5EF4-FFF2-40B4-BE49-F238E27FC236}">
                            <a16:creationId xmlns:a16="http://schemas.microsoft.com/office/drawing/2014/main" id="{9F74CCA1-0248-4F79-9848-CE4EF1AE9D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743200"/>
                        <a:ext cx="8556625" cy="1152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a:extLst>
              <a:ext uri="{FF2B5EF4-FFF2-40B4-BE49-F238E27FC236}">
                <a16:creationId xmlns:a16="http://schemas.microsoft.com/office/drawing/2014/main" id="{57ACCC04-34E4-41A6-862A-D6CA1123F933}"/>
              </a:ext>
            </a:extLst>
          </p:cNvPr>
          <p:cNvSpPr txBox="1">
            <a:spLocks noChangeArrowheads="1"/>
          </p:cNvSpPr>
          <p:nvPr/>
        </p:nvSpPr>
        <p:spPr bwMode="auto">
          <a:xfrm>
            <a:off x="152400" y="4191000"/>
            <a:ext cx="9144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solidFill>
                  <a:srgbClr val="0125FF"/>
                </a:solidFill>
                <a:latin typeface="Times New Roman" panose="02020603050405020304" pitchFamily="18" charset="0"/>
              </a:rPr>
              <a:t>Goal of logistic regression: Predict the </a:t>
            </a:r>
            <a:r>
              <a:rPr lang="ja-JP" altLang="en-US" sz="3600">
                <a:solidFill>
                  <a:srgbClr val="0125FF"/>
                </a:solidFill>
                <a:latin typeface="Times New Roman" panose="02020603050405020304" pitchFamily="18" charset="0"/>
              </a:rPr>
              <a:t>“</a:t>
            </a:r>
            <a:r>
              <a:rPr lang="en-US" altLang="ja-JP" sz="3600">
                <a:solidFill>
                  <a:srgbClr val="0125FF"/>
                </a:solidFill>
                <a:latin typeface="Times New Roman" panose="02020603050405020304" pitchFamily="18" charset="0"/>
              </a:rPr>
              <a:t>true</a:t>
            </a:r>
            <a:r>
              <a:rPr lang="ja-JP" altLang="en-US" sz="3600">
                <a:solidFill>
                  <a:srgbClr val="0125FF"/>
                </a:solidFill>
                <a:latin typeface="Times New Roman" panose="02020603050405020304" pitchFamily="18" charset="0"/>
              </a:rPr>
              <a:t>”</a:t>
            </a:r>
            <a:r>
              <a:rPr lang="en-US" altLang="ja-JP" sz="3600">
                <a:solidFill>
                  <a:srgbClr val="0125FF"/>
                </a:solidFill>
                <a:latin typeface="Times New Roman" panose="02020603050405020304" pitchFamily="18" charset="0"/>
              </a:rPr>
              <a:t> proportion of success, </a:t>
            </a:r>
            <a:r>
              <a:rPr lang="el-GR" altLang="ja-JP" sz="3600">
                <a:solidFill>
                  <a:srgbClr val="0125FF"/>
                </a:solidFill>
                <a:latin typeface="Times New Roman" panose="02020603050405020304" pitchFamily="18" charset="0"/>
              </a:rPr>
              <a:t>π</a:t>
            </a:r>
            <a:r>
              <a:rPr lang="en-US" altLang="ja-JP" sz="3600">
                <a:solidFill>
                  <a:srgbClr val="0125FF"/>
                </a:solidFill>
                <a:latin typeface="Times New Roman" panose="02020603050405020304" pitchFamily="18" charset="0"/>
              </a:rPr>
              <a:t>, at any value of the predictor. </a:t>
            </a:r>
            <a:endParaRPr lang="en-US" altLang="en-US" sz="3600">
              <a:solidFill>
                <a:srgbClr val="0125FF"/>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a:extLst>
              <a:ext uri="{FF2B5EF4-FFF2-40B4-BE49-F238E27FC236}">
                <a16:creationId xmlns:a16="http://schemas.microsoft.com/office/drawing/2014/main" id="{63828FF1-FD9E-4898-9F61-1AAAC9D4770B}"/>
              </a:ext>
            </a:extLst>
          </p:cNvPr>
          <p:cNvSpPr>
            <a:spLocks noGrp="1" noChangeArrowheads="1"/>
          </p:cNvSpPr>
          <p:nvPr>
            <p:ph type="title"/>
          </p:nvPr>
        </p:nvSpPr>
        <p:spPr>
          <a:xfrm>
            <a:off x="381000" y="0"/>
            <a:ext cx="8153400" cy="609600"/>
          </a:xfrm>
        </p:spPr>
        <p:txBody>
          <a:bodyPr>
            <a:normAutofit fontScale="90000"/>
          </a:bodyPr>
          <a:lstStyle/>
          <a:p>
            <a:pPr>
              <a:defRPr/>
            </a:pPr>
            <a:r>
              <a:rPr lang="en-US" sz="3600" dirty="0">
                <a:solidFill>
                  <a:srgbClr val="0125FF"/>
                </a:solidFill>
                <a:ea typeface="ＭＳ Ｐゴシック" charset="0"/>
                <a:cs typeface="ＭＳ Ｐゴシック" charset="0"/>
              </a:rPr>
              <a:t>Binary Logistic Regression Model</a:t>
            </a:r>
          </a:p>
        </p:txBody>
      </p:sp>
      <p:sp>
        <p:nvSpPr>
          <p:cNvPr id="234499" name="Text Box 3">
            <a:extLst>
              <a:ext uri="{FF2B5EF4-FFF2-40B4-BE49-F238E27FC236}">
                <a16:creationId xmlns:a16="http://schemas.microsoft.com/office/drawing/2014/main" id="{FC879CC4-6F1D-45FD-8A5D-FFA3B1F1CF3F}"/>
              </a:ext>
            </a:extLst>
          </p:cNvPr>
          <p:cNvSpPr txBox="1">
            <a:spLocks noChangeArrowheads="1"/>
          </p:cNvSpPr>
          <p:nvPr/>
        </p:nvSpPr>
        <p:spPr bwMode="auto">
          <a:xfrm>
            <a:off x="47625" y="609600"/>
            <a:ext cx="3962400" cy="584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i="1">
                <a:solidFill>
                  <a:srgbClr val="FFFF66"/>
                </a:solidFill>
                <a:latin typeface="Times New Roman" panose="02020603050405020304" pitchFamily="18" charset="0"/>
              </a:rPr>
              <a:t>Y</a:t>
            </a:r>
            <a:r>
              <a:rPr lang="en-US" altLang="en-US" sz="3600">
                <a:solidFill>
                  <a:srgbClr val="FFFF66"/>
                </a:solidFill>
                <a:latin typeface="Times New Roman" panose="02020603050405020304" pitchFamily="18" charset="0"/>
              </a:rPr>
              <a:t> = Binary response</a:t>
            </a:r>
          </a:p>
        </p:txBody>
      </p:sp>
      <p:sp>
        <p:nvSpPr>
          <p:cNvPr id="234500" name="Text Box 4">
            <a:extLst>
              <a:ext uri="{FF2B5EF4-FFF2-40B4-BE49-F238E27FC236}">
                <a16:creationId xmlns:a16="http://schemas.microsoft.com/office/drawing/2014/main" id="{14F8D671-29BC-46B4-AE85-658C9AD8F6D8}"/>
              </a:ext>
            </a:extLst>
          </p:cNvPr>
          <p:cNvSpPr txBox="1">
            <a:spLocks noChangeArrowheads="1"/>
          </p:cNvSpPr>
          <p:nvPr/>
        </p:nvSpPr>
        <p:spPr bwMode="auto">
          <a:xfrm>
            <a:off x="4076700" y="609600"/>
            <a:ext cx="5067300" cy="646113"/>
          </a:xfrm>
          <a:prstGeom prst="rect">
            <a:avLst/>
          </a:prstGeom>
          <a:solidFill>
            <a:srgbClr val="6600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i="1">
                <a:solidFill>
                  <a:srgbClr val="FFFF66"/>
                </a:solidFill>
                <a:latin typeface="Times New Roman" panose="02020603050405020304" pitchFamily="18" charset="0"/>
              </a:rPr>
              <a:t>X</a:t>
            </a:r>
            <a:r>
              <a:rPr lang="en-US" altLang="en-US" sz="3600">
                <a:solidFill>
                  <a:srgbClr val="FFFF66"/>
                </a:solidFill>
                <a:latin typeface="Times New Roman" panose="02020603050405020304" pitchFamily="18" charset="0"/>
              </a:rPr>
              <a:t> = Quantitative predictor</a:t>
            </a:r>
          </a:p>
        </p:txBody>
      </p:sp>
      <p:sp>
        <p:nvSpPr>
          <p:cNvPr id="234501" name="Text Box 5">
            <a:extLst>
              <a:ext uri="{FF2B5EF4-FFF2-40B4-BE49-F238E27FC236}">
                <a16:creationId xmlns:a16="http://schemas.microsoft.com/office/drawing/2014/main" id="{F57624AE-A4F0-4F46-93A6-B3FDB3091CD6}"/>
              </a:ext>
            </a:extLst>
          </p:cNvPr>
          <p:cNvSpPr txBox="1">
            <a:spLocks noChangeArrowheads="1"/>
          </p:cNvSpPr>
          <p:nvPr/>
        </p:nvSpPr>
        <p:spPr bwMode="auto">
          <a:xfrm>
            <a:off x="665163" y="1295400"/>
            <a:ext cx="8402637" cy="646113"/>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l-GR" altLang="en-US" sz="3600" i="1">
                <a:solidFill>
                  <a:srgbClr val="FFFF66"/>
                </a:solidFill>
                <a:latin typeface="Times New Roman" panose="02020603050405020304" pitchFamily="18" charset="0"/>
              </a:rPr>
              <a:t>π</a:t>
            </a:r>
            <a:r>
              <a:rPr lang="en-US" altLang="en-US" sz="3600">
                <a:solidFill>
                  <a:srgbClr val="FFFF66"/>
                </a:solidFill>
                <a:latin typeface="Times New Roman" panose="02020603050405020304" pitchFamily="18" charset="0"/>
              </a:rPr>
              <a:t> = proportion of 1</a:t>
            </a:r>
            <a:r>
              <a:rPr lang="ja-JP" altLang="en-US" sz="3600">
                <a:solidFill>
                  <a:srgbClr val="FFFF66"/>
                </a:solidFill>
                <a:latin typeface="Times New Roman" panose="02020603050405020304" pitchFamily="18" charset="0"/>
              </a:rPr>
              <a:t>’</a:t>
            </a:r>
            <a:r>
              <a:rPr lang="en-US" altLang="ja-JP" sz="3600">
                <a:solidFill>
                  <a:srgbClr val="FFFF66"/>
                </a:solidFill>
                <a:latin typeface="Times New Roman" panose="02020603050405020304" pitchFamily="18" charset="0"/>
              </a:rPr>
              <a:t>s (yes,success) at any X</a:t>
            </a:r>
            <a:endParaRPr lang="en-US" altLang="en-US" sz="3600">
              <a:solidFill>
                <a:srgbClr val="FFFF66"/>
              </a:solidFill>
              <a:latin typeface="Times New Roman" panose="02020603050405020304" pitchFamily="18" charset="0"/>
            </a:endParaRPr>
          </a:p>
        </p:txBody>
      </p:sp>
      <p:graphicFrame>
        <p:nvGraphicFramePr>
          <p:cNvPr id="234502" name="Object 2">
            <a:extLst>
              <a:ext uri="{FF2B5EF4-FFF2-40B4-BE49-F238E27FC236}">
                <a16:creationId xmlns:a16="http://schemas.microsoft.com/office/drawing/2014/main" id="{B495A3E6-5466-4F48-8000-D87A0DEA27FA}"/>
              </a:ext>
            </a:extLst>
          </p:cNvPr>
          <p:cNvGraphicFramePr>
            <a:graphicFrameLocks noChangeAspect="1"/>
          </p:cNvGraphicFramePr>
          <p:nvPr/>
        </p:nvGraphicFramePr>
        <p:xfrm>
          <a:off x="4983163" y="3168650"/>
          <a:ext cx="3770312" cy="1862138"/>
        </p:xfrm>
        <a:graphic>
          <a:graphicData uri="http://schemas.openxmlformats.org/presentationml/2006/ole">
            <mc:AlternateContent xmlns:mc="http://schemas.openxmlformats.org/markup-compatibility/2006">
              <mc:Choice xmlns:v="urn:schemas-microsoft-com:vml" Requires="v">
                <p:oleObj spid="_x0000_s3074" name="Equation" r:id="rId3" imgW="927100" imgH="457200" progId="Equation.DSMT4">
                  <p:embed/>
                </p:oleObj>
              </mc:Choice>
              <mc:Fallback>
                <p:oleObj name="Equation" r:id="rId3" imgW="927100" imgH="457200" progId="Equation.DSMT4">
                  <p:embed/>
                  <p:pic>
                    <p:nvPicPr>
                      <p:cNvPr id="234502" name="Object 2">
                        <a:extLst>
                          <a:ext uri="{FF2B5EF4-FFF2-40B4-BE49-F238E27FC236}">
                            <a16:creationId xmlns:a16="http://schemas.microsoft.com/office/drawing/2014/main" id="{B495A3E6-5466-4F48-8000-D87A0DEA27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3163" y="3168650"/>
                        <a:ext cx="3770312" cy="1862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4503" name="Text Box 7">
            <a:extLst>
              <a:ext uri="{FF2B5EF4-FFF2-40B4-BE49-F238E27FC236}">
                <a16:creationId xmlns:a16="http://schemas.microsoft.com/office/drawing/2014/main" id="{6BEA5BE8-C6FA-449C-B2AE-60CE7195FB1A}"/>
              </a:ext>
            </a:extLst>
          </p:cNvPr>
          <p:cNvSpPr txBox="1">
            <a:spLocks noChangeArrowheads="1"/>
          </p:cNvSpPr>
          <p:nvPr/>
        </p:nvSpPr>
        <p:spPr bwMode="auto">
          <a:xfrm>
            <a:off x="82550" y="1981200"/>
            <a:ext cx="9448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200">
                <a:solidFill>
                  <a:srgbClr val="0125FF"/>
                </a:solidFill>
                <a:latin typeface="Times New Roman" panose="02020603050405020304" pitchFamily="18" charset="0"/>
              </a:rPr>
              <a:t>Equivalent forms of the logistic regression model:</a:t>
            </a:r>
          </a:p>
        </p:txBody>
      </p:sp>
      <p:sp>
        <p:nvSpPr>
          <p:cNvPr id="234504" name="Text Box 8">
            <a:extLst>
              <a:ext uri="{FF2B5EF4-FFF2-40B4-BE49-F238E27FC236}">
                <a16:creationId xmlns:a16="http://schemas.microsoft.com/office/drawing/2014/main" id="{8F4D8EA3-E9BD-41DF-90CF-841DAFF21C92}"/>
              </a:ext>
            </a:extLst>
          </p:cNvPr>
          <p:cNvSpPr txBox="1">
            <a:spLocks noChangeArrowheads="1"/>
          </p:cNvSpPr>
          <p:nvPr/>
        </p:nvSpPr>
        <p:spPr bwMode="auto">
          <a:xfrm>
            <a:off x="2819400" y="4953000"/>
            <a:ext cx="4953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i="1">
                <a:solidFill>
                  <a:srgbClr val="0125FF"/>
                </a:solidFill>
                <a:latin typeface="Times New Roman" panose="02020603050405020304" pitchFamily="18" charset="0"/>
              </a:rPr>
              <a:t>What does this look like?</a:t>
            </a:r>
          </a:p>
        </p:txBody>
      </p:sp>
      <p:graphicFrame>
        <p:nvGraphicFramePr>
          <p:cNvPr id="250883" name="Object 3">
            <a:extLst>
              <a:ext uri="{FF2B5EF4-FFF2-40B4-BE49-F238E27FC236}">
                <a16:creationId xmlns:a16="http://schemas.microsoft.com/office/drawing/2014/main" id="{4713EAA5-FC04-44B8-B007-EE615012631A}"/>
              </a:ext>
            </a:extLst>
          </p:cNvPr>
          <p:cNvGraphicFramePr>
            <a:graphicFrameLocks noChangeAspect="1"/>
          </p:cNvGraphicFramePr>
          <p:nvPr/>
        </p:nvGraphicFramePr>
        <p:xfrm>
          <a:off x="55563" y="3252788"/>
          <a:ext cx="4627562" cy="1431925"/>
        </p:xfrm>
        <a:graphic>
          <a:graphicData uri="http://schemas.openxmlformats.org/presentationml/2006/ole">
            <mc:AlternateContent xmlns:mc="http://schemas.openxmlformats.org/markup-compatibility/2006">
              <mc:Choice xmlns:v="urn:schemas-microsoft-com:vml" Requires="v">
                <p:oleObj spid="_x0000_s3075" name="Equation" r:id="rId5" imgW="1397000" imgH="431800" progId="Equation.3">
                  <p:embed/>
                </p:oleObj>
              </mc:Choice>
              <mc:Fallback>
                <p:oleObj name="Equation" r:id="rId5" imgW="1397000" imgH="431800" progId="Equation.3">
                  <p:embed/>
                  <p:pic>
                    <p:nvPicPr>
                      <p:cNvPr id="250883" name="Object 3">
                        <a:extLst>
                          <a:ext uri="{FF2B5EF4-FFF2-40B4-BE49-F238E27FC236}">
                            <a16:creationId xmlns:a16="http://schemas.microsoft.com/office/drawing/2014/main" id="{4713EAA5-FC04-44B8-B007-EE61501263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563" y="3252788"/>
                        <a:ext cx="4627562" cy="1431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9">
            <a:extLst>
              <a:ext uri="{FF2B5EF4-FFF2-40B4-BE49-F238E27FC236}">
                <a16:creationId xmlns:a16="http://schemas.microsoft.com/office/drawing/2014/main" id="{C07F3EB8-2B5B-4084-A18A-A67795C2FA6C}"/>
              </a:ext>
            </a:extLst>
          </p:cNvPr>
          <p:cNvSpPr txBox="1">
            <a:spLocks noChangeArrowheads="1"/>
          </p:cNvSpPr>
          <p:nvPr/>
        </p:nvSpPr>
        <p:spPr bwMode="auto">
          <a:xfrm>
            <a:off x="969963" y="2667000"/>
            <a:ext cx="26114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solidFill>
                  <a:srgbClr val="0125FF"/>
                </a:solidFill>
                <a:latin typeface="Times New Roman" panose="02020603050405020304" pitchFamily="18" charset="0"/>
              </a:rPr>
              <a:t>Logit form</a:t>
            </a:r>
          </a:p>
        </p:txBody>
      </p:sp>
      <p:sp>
        <p:nvSpPr>
          <p:cNvPr id="11" name="TextBox 10">
            <a:extLst>
              <a:ext uri="{FF2B5EF4-FFF2-40B4-BE49-F238E27FC236}">
                <a16:creationId xmlns:a16="http://schemas.microsoft.com/office/drawing/2014/main" id="{54896DC6-279D-4677-AE37-AC491404BFA2}"/>
              </a:ext>
            </a:extLst>
          </p:cNvPr>
          <p:cNvSpPr txBox="1">
            <a:spLocks noChangeArrowheads="1"/>
          </p:cNvSpPr>
          <p:nvPr/>
        </p:nvSpPr>
        <p:spPr bwMode="auto">
          <a:xfrm>
            <a:off x="5237163" y="2617788"/>
            <a:ext cx="32972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a:solidFill>
                  <a:srgbClr val="0125FF"/>
                </a:solidFill>
                <a:latin typeface="Times New Roman" panose="02020603050405020304" pitchFamily="18" charset="0"/>
              </a:rPr>
              <a:t>Probability form</a:t>
            </a:r>
          </a:p>
        </p:txBody>
      </p:sp>
      <p:sp>
        <p:nvSpPr>
          <p:cNvPr id="12" name="TextBox 11">
            <a:extLst>
              <a:ext uri="{FF2B5EF4-FFF2-40B4-BE49-F238E27FC236}">
                <a16:creationId xmlns:a16="http://schemas.microsoft.com/office/drawing/2014/main" id="{C4B31EEC-EC7D-45B2-8187-036C4234E401}"/>
              </a:ext>
            </a:extLst>
          </p:cNvPr>
          <p:cNvSpPr txBox="1">
            <a:spLocks noChangeArrowheads="1"/>
          </p:cNvSpPr>
          <p:nvPr/>
        </p:nvSpPr>
        <p:spPr bwMode="auto">
          <a:xfrm>
            <a:off x="152400" y="5486400"/>
            <a:ext cx="66516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3600" dirty="0">
                <a:solidFill>
                  <a:srgbClr val="0125FF"/>
                </a:solidFill>
                <a:latin typeface="Times New Roman" panose="02020603050405020304" pitchFamily="18" charset="0"/>
              </a:rPr>
              <a:t>N.B.: This is natural log (aka </a:t>
            </a:r>
            <a:r>
              <a:rPr lang="ja-JP" altLang="en-US" sz="3600" dirty="0">
                <a:solidFill>
                  <a:srgbClr val="0125FF"/>
                </a:solidFill>
                <a:latin typeface="Times New Roman" panose="02020603050405020304" pitchFamily="18" charset="0"/>
              </a:rPr>
              <a:t>“</a:t>
            </a:r>
            <a:r>
              <a:rPr lang="en-US" altLang="ja-JP" sz="3600" dirty="0">
                <a:solidFill>
                  <a:srgbClr val="0125FF"/>
                </a:solidFill>
                <a:latin typeface="Times New Roman" panose="02020603050405020304" pitchFamily="18" charset="0"/>
              </a:rPr>
              <a:t>ln</a:t>
            </a:r>
            <a:r>
              <a:rPr lang="ja-JP" altLang="en-US" sz="3600" dirty="0">
                <a:solidFill>
                  <a:srgbClr val="0125FF"/>
                </a:solidFill>
                <a:latin typeface="Times New Roman" panose="02020603050405020304" pitchFamily="18" charset="0"/>
              </a:rPr>
              <a:t>”</a:t>
            </a:r>
            <a:r>
              <a:rPr lang="en-US" altLang="ja-JP" sz="3600" dirty="0">
                <a:solidFill>
                  <a:srgbClr val="0125FF"/>
                </a:solidFill>
                <a:latin typeface="Times New Roman" panose="02020603050405020304" pitchFamily="18" charset="0"/>
              </a:rPr>
              <a:t>)</a:t>
            </a:r>
            <a:endParaRPr lang="en-US" altLang="en-US" sz="3600" dirty="0">
              <a:solidFill>
                <a:srgbClr val="0125FF"/>
              </a:solidFill>
              <a:latin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5E652DB9-9E03-417E-9276-485B9A03B73E}"/>
              </a:ext>
            </a:extLst>
          </p:cNvPr>
          <p:cNvCxnSpPr>
            <a:cxnSpLocks noChangeShapeType="1"/>
          </p:cNvCxnSpPr>
          <p:nvPr/>
        </p:nvCxnSpPr>
        <p:spPr bwMode="auto">
          <a:xfrm rot="16200000" flipV="1">
            <a:off x="-76200" y="4810125"/>
            <a:ext cx="1371600" cy="152400"/>
          </a:xfrm>
          <a:prstGeom prst="straightConnector1">
            <a:avLst/>
          </a:prstGeom>
          <a:noFill/>
          <a:ln w="25400">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44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450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3450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3450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nodeType="afterGroup">
                            <p:stCondLst>
                              <p:cond delay="0"/>
                            </p:stCondLst>
                            <p:childTnLst>
                              <p:par>
                                <p:cTn id="24" presetID="9" presetClass="entr" presetSubtype="0" fill="hold" nodeType="afterEffect">
                                  <p:stCondLst>
                                    <p:cond delay="0"/>
                                  </p:stCondLst>
                                  <p:childTnLst>
                                    <p:set>
                                      <p:cBhvr>
                                        <p:cTn id="25" dur="1" fill="hold">
                                          <p:stCondLst>
                                            <p:cond delay="0"/>
                                          </p:stCondLst>
                                        </p:cTn>
                                        <p:tgtEl>
                                          <p:spTgt spid="250883"/>
                                        </p:tgtEl>
                                        <p:attrNameLst>
                                          <p:attrName>style.visibility</p:attrName>
                                        </p:attrNameLst>
                                      </p:cBhvr>
                                      <p:to>
                                        <p:strVal val="visible"/>
                                      </p:to>
                                    </p:set>
                                    <p:animEffect transition="in" filter="dissolve">
                                      <p:cBhvr>
                                        <p:cTn id="26" dur="500"/>
                                        <p:tgtEl>
                                          <p:spTgt spid="25088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par>
                          <p:cTn id="31" fill="hold" nodeType="afterGroup">
                            <p:stCondLst>
                              <p:cond delay="0"/>
                            </p:stCondLst>
                            <p:childTnLst>
                              <p:par>
                                <p:cTn id="32" presetID="9" presetClass="entr" presetSubtype="0" fill="hold" nodeType="afterEffect">
                                  <p:stCondLst>
                                    <p:cond delay="0"/>
                                  </p:stCondLst>
                                  <p:childTnLst>
                                    <p:set>
                                      <p:cBhvr>
                                        <p:cTn id="33" dur="1" fill="hold">
                                          <p:stCondLst>
                                            <p:cond delay="0"/>
                                          </p:stCondLst>
                                        </p:cTn>
                                        <p:tgtEl>
                                          <p:spTgt spid="234502"/>
                                        </p:tgtEl>
                                        <p:attrNameLst>
                                          <p:attrName>style.visibility</p:attrName>
                                        </p:attrNameLst>
                                      </p:cBhvr>
                                      <p:to>
                                        <p:strVal val="visible"/>
                                      </p:to>
                                    </p:set>
                                    <p:animEffect transition="in" filter="dissolve">
                                      <p:cBhvr>
                                        <p:cTn id="34" dur="500"/>
                                        <p:tgtEl>
                                          <p:spTgt spid="23450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par>
                          <p:cTn id="39" fill="hold" nodeType="afterGroup">
                            <p:stCondLst>
                              <p:cond delay="0"/>
                            </p:stCondLst>
                            <p:childTnLst>
                              <p:par>
                                <p:cTn id="40" presetID="22" presetClass="entr" presetSubtype="4" fill="hold"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1000"/>
                                        <p:tgtEl>
                                          <p:spTgt spid="1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45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9" grpId="0" animBg="1" autoUpdateAnimBg="0"/>
      <p:bldP spid="234500" grpId="0" animBg="1" autoUpdateAnimBg="0"/>
      <p:bldP spid="234501" grpId="0" animBg="1" autoUpdateAnimBg="0"/>
      <p:bldP spid="234503" grpId="0" autoUpdateAnimBg="0"/>
      <p:bldP spid="234504" grpId="0"/>
      <p:bldP spid="10"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24" name="Picture 4">
            <a:extLst>
              <a:ext uri="{FF2B5EF4-FFF2-40B4-BE49-F238E27FC236}">
                <a16:creationId xmlns:a16="http://schemas.microsoft.com/office/drawing/2014/main" id="{8F68BF15-E067-496B-9BB4-CAE816070E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615156"/>
            <a:ext cx="8275638" cy="562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2">
            <a:extLst>
              <a:ext uri="{FF2B5EF4-FFF2-40B4-BE49-F238E27FC236}">
                <a16:creationId xmlns:a16="http://schemas.microsoft.com/office/drawing/2014/main" id="{2F4853CC-08FE-428B-9CAE-4134EA72E39B}"/>
              </a:ext>
            </a:extLst>
          </p:cNvPr>
          <p:cNvSpPr>
            <a:spLocks noGrp="1" noChangeArrowheads="1"/>
          </p:cNvSpPr>
          <p:nvPr>
            <p:ph type="title"/>
          </p:nvPr>
        </p:nvSpPr>
        <p:spPr>
          <a:xfrm>
            <a:off x="609600" y="0"/>
            <a:ext cx="7772400" cy="461963"/>
          </a:xfrm>
        </p:spPr>
        <p:txBody>
          <a:bodyPr>
            <a:normAutofit fontScale="90000"/>
          </a:bodyPr>
          <a:lstStyle/>
          <a:p>
            <a:pPr>
              <a:defRPr/>
            </a:pPr>
            <a:r>
              <a:rPr lang="en-US" sz="3200" dirty="0" err="1">
                <a:ea typeface="ＭＳ Ｐゴシック" charset="0"/>
                <a:cs typeface="ＭＳ Ｐゴシック" charset="0"/>
              </a:rPr>
              <a:t>Logit</a:t>
            </a:r>
            <a:r>
              <a:rPr lang="en-US" sz="3200" dirty="0">
                <a:ea typeface="ＭＳ Ｐゴシック" charset="0"/>
                <a:cs typeface="ＭＳ Ｐゴシック" charset="0"/>
              </a:rPr>
              <a:t> Function</a:t>
            </a:r>
          </a:p>
        </p:txBody>
      </p:sp>
      <p:graphicFrame>
        <p:nvGraphicFramePr>
          <p:cNvPr id="4" name="Object 2">
            <a:extLst>
              <a:ext uri="{FF2B5EF4-FFF2-40B4-BE49-F238E27FC236}">
                <a16:creationId xmlns:a16="http://schemas.microsoft.com/office/drawing/2014/main" id="{BA273F17-C818-40E2-AD51-807FB4B099EF}"/>
              </a:ext>
            </a:extLst>
          </p:cNvPr>
          <p:cNvGraphicFramePr>
            <a:graphicFrameLocks noChangeAspect="1"/>
          </p:cNvGraphicFramePr>
          <p:nvPr>
            <p:extLst>
              <p:ext uri="{D42A27DB-BD31-4B8C-83A1-F6EECF244321}">
                <p14:modId xmlns:p14="http://schemas.microsoft.com/office/powerpoint/2010/main" val="1464845784"/>
              </p:ext>
            </p:extLst>
          </p:nvPr>
        </p:nvGraphicFramePr>
        <p:xfrm>
          <a:off x="5796136" y="5600882"/>
          <a:ext cx="1791170" cy="884650"/>
        </p:xfrm>
        <a:graphic>
          <a:graphicData uri="http://schemas.openxmlformats.org/presentationml/2006/ole">
            <mc:AlternateContent xmlns:mc="http://schemas.openxmlformats.org/markup-compatibility/2006">
              <mc:Choice xmlns:v="urn:schemas-microsoft-com:vml" Requires="v">
                <p:oleObj spid="_x0000_s4098" name="Equation" r:id="rId4" imgW="927100" imgH="457200" progId="Equation.DSMT4">
                  <p:embed/>
                </p:oleObj>
              </mc:Choice>
              <mc:Fallback>
                <p:oleObj name="Equation" r:id="rId4" imgW="927100" imgH="457200" progId="Equation.DSMT4">
                  <p:embed/>
                  <p:pic>
                    <p:nvPicPr>
                      <p:cNvPr id="234502" name="Object 2">
                        <a:extLst>
                          <a:ext uri="{FF2B5EF4-FFF2-40B4-BE49-F238E27FC236}">
                            <a16:creationId xmlns:a16="http://schemas.microsoft.com/office/drawing/2014/main" id="{B495A3E6-5466-4F48-8000-D87A0DEA27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6136" y="5600882"/>
                        <a:ext cx="1791170" cy="884650"/>
                      </a:xfrm>
                      <a:prstGeom prst="rect">
                        <a:avLst/>
                      </a:prstGeom>
                      <a:solidFill>
                        <a:schemeClr val="bg1"/>
                      </a:solidFill>
                      <a:ln>
                        <a:noFill/>
                      </a:ln>
                    </p:spPr>
                  </p:pic>
                </p:oleObj>
              </mc:Fallback>
            </mc:AlternateContent>
          </a:graphicData>
        </a:graphic>
      </p:graphicFrame>
      <p:graphicFrame>
        <p:nvGraphicFramePr>
          <p:cNvPr id="5" name="Object 3">
            <a:extLst>
              <a:ext uri="{FF2B5EF4-FFF2-40B4-BE49-F238E27FC236}">
                <a16:creationId xmlns:a16="http://schemas.microsoft.com/office/drawing/2014/main" id="{93645CD9-3B66-4FBC-9798-347AC407D526}"/>
              </a:ext>
            </a:extLst>
          </p:cNvPr>
          <p:cNvGraphicFramePr>
            <a:graphicFrameLocks noChangeAspect="1"/>
          </p:cNvGraphicFramePr>
          <p:nvPr>
            <p:extLst>
              <p:ext uri="{D42A27DB-BD31-4B8C-83A1-F6EECF244321}">
                <p14:modId xmlns:p14="http://schemas.microsoft.com/office/powerpoint/2010/main" val="652872489"/>
              </p:ext>
            </p:extLst>
          </p:nvPr>
        </p:nvGraphicFramePr>
        <p:xfrm>
          <a:off x="3131840" y="5805264"/>
          <a:ext cx="2198427" cy="680268"/>
        </p:xfrm>
        <a:graphic>
          <a:graphicData uri="http://schemas.openxmlformats.org/presentationml/2006/ole">
            <mc:AlternateContent xmlns:mc="http://schemas.openxmlformats.org/markup-compatibility/2006">
              <mc:Choice xmlns:v="urn:schemas-microsoft-com:vml" Requires="v">
                <p:oleObj spid="_x0000_s4099" name="Equation" r:id="rId6" imgW="1397000" imgH="431800" progId="Equation.3">
                  <p:embed/>
                </p:oleObj>
              </mc:Choice>
              <mc:Fallback>
                <p:oleObj name="Equation" r:id="rId6" imgW="1397000" imgH="431800" progId="Equation.3">
                  <p:embed/>
                  <p:pic>
                    <p:nvPicPr>
                      <p:cNvPr id="250883" name="Object 3">
                        <a:extLst>
                          <a:ext uri="{FF2B5EF4-FFF2-40B4-BE49-F238E27FC236}">
                            <a16:creationId xmlns:a16="http://schemas.microsoft.com/office/drawing/2014/main" id="{4713EAA5-FC04-44B8-B007-EE61501263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1840" y="5805264"/>
                        <a:ext cx="2198427" cy="680268"/>
                      </a:xfrm>
                      <a:prstGeom prst="rect">
                        <a:avLst/>
                      </a:prstGeom>
                      <a:solidFill>
                        <a:schemeClr val="bg1"/>
                      </a:solid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235524"/>
                                        </p:tgtEl>
                                        <p:attrNameLst>
                                          <p:attrName>style.visibility</p:attrName>
                                        </p:attrNameLst>
                                      </p:cBhvr>
                                      <p:to>
                                        <p:strVal val="visible"/>
                                      </p:to>
                                    </p:set>
                                    <p:anim calcmode="lin" valueType="num">
                                      <p:cBhvr>
                                        <p:cTn id="7" dur="500" fill="hold"/>
                                        <p:tgtEl>
                                          <p:spTgt spid="235524"/>
                                        </p:tgtEl>
                                        <p:attrNameLst>
                                          <p:attrName>ppt_w</p:attrName>
                                        </p:attrNameLst>
                                      </p:cBhvr>
                                      <p:tavLst>
                                        <p:tav tm="0">
                                          <p:val>
                                            <p:fltVal val="0"/>
                                          </p:val>
                                        </p:tav>
                                        <p:tav tm="100000">
                                          <p:val>
                                            <p:strVal val="#ppt_w"/>
                                          </p:val>
                                        </p:tav>
                                      </p:tavLst>
                                    </p:anim>
                                    <p:anim calcmode="lin" valueType="num">
                                      <p:cBhvr>
                                        <p:cTn id="8" dur="500" fill="hold"/>
                                        <p:tgtEl>
                                          <p:spTgt spid="23552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par>
                          <p:cTn id="13" fill="hold">
                            <p:stCondLst>
                              <p:cond delay="1000"/>
                            </p:stCondLst>
                            <p:childTnLst>
                              <p:par>
                                <p:cTn id="14" presetID="9"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A734BA4E-6A80-4E20-98D5-00EA6BDF5211}"/>
              </a:ext>
            </a:extLst>
          </p:cNvPr>
          <p:cNvSpPr>
            <a:spLocks noGrp="1" noChangeArrowheads="1"/>
          </p:cNvSpPr>
          <p:nvPr>
            <p:ph type="title"/>
          </p:nvPr>
        </p:nvSpPr>
        <p:spPr>
          <a:xfrm>
            <a:off x="0" y="0"/>
            <a:ext cx="9144000" cy="533400"/>
          </a:xfrm>
        </p:spPr>
        <p:txBody>
          <a:bodyPr>
            <a:normAutofit fontScale="90000"/>
          </a:bodyPr>
          <a:lstStyle/>
          <a:p>
            <a:pPr>
              <a:defRPr/>
            </a:pPr>
            <a:r>
              <a:rPr lang="en-US" sz="3200" dirty="0">
                <a:solidFill>
                  <a:srgbClr val="0125FF"/>
                </a:solidFill>
                <a:ea typeface="ＭＳ Ｐゴシック" charset="0"/>
                <a:cs typeface="ＭＳ Ｐゴシック" charset="0"/>
              </a:rPr>
              <a:t>Binary Logistic Regression via R</a:t>
            </a:r>
          </a:p>
        </p:txBody>
      </p:sp>
      <p:sp>
        <p:nvSpPr>
          <p:cNvPr id="229379" name="Text Box 3">
            <a:extLst>
              <a:ext uri="{FF2B5EF4-FFF2-40B4-BE49-F238E27FC236}">
                <a16:creationId xmlns:a16="http://schemas.microsoft.com/office/drawing/2014/main" id="{06B8A60A-8FF6-4678-BB3D-0012F043D243}"/>
              </a:ext>
            </a:extLst>
          </p:cNvPr>
          <p:cNvSpPr txBox="1">
            <a:spLocks noChangeArrowheads="1"/>
          </p:cNvSpPr>
          <p:nvPr/>
        </p:nvSpPr>
        <p:spPr bwMode="auto">
          <a:xfrm>
            <a:off x="139700" y="685800"/>
            <a:ext cx="8991600" cy="1200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b="1">
                <a:latin typeface="Courier New" panose="02070309020205020404" pitchFamily="49" charset="0"/>
              </a:rPr>
              <a:t>&gt; </a:t>
            </a:r>
            <a:r>
              <a:rPr lang="en-US" altLang="en-US" b="1">
                <a:solidFill>
                  <a:srgbClr val="FF0000"/>
                </a:solidFill>
                <a:latin typeface="Courier New" panose="02070309020205020404" pitchFamily="49" charset="0"/>
              </a:rPr>
              <a:t>logitmodel=glm(Gender~Hgt,family=binomial, data=Pulse)</a:t>
            </a:r>
          </a:p>
          <a:p>
            <a:r>
              <a:rPr lang="en-US" altLang="en-US" b="1">
                <a:latin typeface="Courier New" panose="02070309020205020404" pitchFamily="49" charset="0"/>
              </a:rPr>
              <a:t>&gt;</a:t>
            </a:r>
            <a:r>
              <a:rPr lang="en-US" altLang="en-US" b="1">
                <a:solidFill>
                  <a:srgbClr val="FF0000"/>
                </a:solidFill>
                <a:latin typeface="Courier New" panose="02070309020205020404" pitchFamily="49" charset="0"/>
              </a:rPr>
              <a:t> summary(logitmodel)</a:t>
            </a:r>
          </a:p>
        </p:txBody>
      </p:sp>
      <p:sp>
        <p:nvSpPr>
          <p:cNvPr id="229380" name="Text Box 4">
            <a:extLst>
              <a:ext uri="{FF2B5EF4-FFF2-40B4-BE49-F238E27FC236}">
                <a16:creationId xmlns:a16="http://schemas.microsoft.com/office/drawing/2014/main" id="{CBD62F75-47C0-46CA-9943-1A22B70FFF5C}"/>
              </a:ext>
            </a:extLst>
          </p:cNvPr>
          <p:cNvSpPr txBox="1">
            <a:spLocks noChangeArrowheads="1"/>
          </p:cNvSpPr>
          <p:nvPr/>
        </p:nvSpPr>
        <p:spPr bwMode="auto">
          <a:xfrm>
            <a:off x="166688" y="1947863"/>
            <a:ext cx="9144000" cy="30464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600" b="1">
                <a:latin typeface="Courier New" panose="02070309020205020404" pitchFamily="49" charset="0"/>
              </a:rPr>
              <a:t>Call:</a:t>
            </a:r>
          </a:p>
          <a:p>
            <a:r>
              <a:rPr lang="en-US" altLang="en-US" sz="1600" b="1">
                <a:latin typeface="Courier New" panose="02070309020205020404" pitchFamily="49" charset="0"/>
              </a:rPr>
              <a:t>glm(formula = Gender ~ Hgt, family = binomial)</a:t>
            </a:r>
          </a:p>
          <a:p>
            <a:endParaRPr lang="en-US" altLang="en-US" sz="1600" b="1">
              <a:latin typeface="Courier New" panose="02070309020205020404" pitchFamily="49" charset="0"/>
            </a:endParaRPr>
          </a:p>
          <a:p>
            <a:r>
              <a:rPr lang="en-US" altLang="en-US" sz="1600" b="1">
                <a:latin typeface="Courier New" panose="02070309020205020404" pitchFamily="49" charset="0"/>
              </a:rPr>
              <a:t>Deviance Residuals: </a:t>
            </a:r>
          </a:p>
          <a:p>
            <a:r>
              <a:rPr lang="en-US" altLang="en-US" sz="1600" b="1">
                <a:latin typeface="Courier New" panose="02070309020205020404" pitchFamily="49" charset="0"/>
              </a:rPr>
              <a:t>     Min        1Q    Median        3Q       Max  </a:t>
            </a:r>
          </a:p>
          <a:p>
            <a:r>
              <a:rPr lang="en-US" altLang="en-US" sz="1600" b="1">
                <a:latin typeface="Courier New" panose="02070309020205020404" pitchFamily="49" charset="0"/>
              </a:rPr>
              <a:t>-2.77443  -0.34870  -0.05375   0.32973   2.37928  </a:t>
            </a:r>
          </a:p>
          <a:p>
            <a:endParaRPr lang="en-US" altLang="en-US" sz="1600" b="1">
              <a:latin typeface="Courier New" panose="02070309020205020404" pitchFamily="49" charset="0"/>
            </a:endParaRPr>
          </a:p>
          <a:p>
            <a:r>
              <a:rPr lang="en-US" altLang="en-US" sz="1600" b="1">
                <a:latin typeface="Courier New" panose="02070309020205020404" pitchFamily="49" charset="0"/>
              </a:rPr>
              <a:t>Coefficients:</a:t>
            </a:r>
          </a:p>
          <a:p>
            <a:r>
              <a:rPr lang="en-US" altLang="en-US" sz="1600" b="1">
                <a:latin typeface="Courier New" panose="02070309020205020404" pitchFamily="49" charset="0"/>
              </a:rPr>
              <a:t>            Estimate Std. Error z value Pr(&gt;|z|)    </a:t>
            </a:r>
          </a:p>
          <a:p>
            <a:r>
              <a:rPr lang="en-US" altLang="en-US" sz="1600" b="1">
                <a:latin typeface="Courier New" panose="02070309020205020404" pitchFamily="49" charset="0"/>
              </a:rPr>
              <a:t>(Intercept)  64.1416     8.3694   7.664 1.81e-14 ***</a:t>
            </a:r>
          </a:p>
          <a:p>
            <a:r>
              <a:rPr lang="en-US" altLang="en-US" sz="1600" b="1">
                <a:latin typeface="Courier New" panose="02070309020205020404" pitchFamily="49" charset="0"/>
              </a:rPr>
              <a:t>Hgt          -0.9424     0.1227  -7.680 1.60e-14***</a:t>
            </a:r>
          </a:p>
          <a:p>
            <a:r>
              <a:rPr lang="en-US" altLang="en-US" sz="1600" b="1">
                <a:latin typeface="Courier New" panose="02070309020205020404" pitchFamily="49" charset="0"/>
              </a:rPr>
              <a:t>---</a:t>
            </a:r>
          </a:p>
        </p:txBody>
      </p:sp>
      <p:sp>
        <p:nvSpPr>
          <p:cNvPr id="229384" name="Oval 8">
            <a:extLst>
              <a:ext uri="{FF2B5EF4-FFF2-40B4-BE49-F238E27FC236}">
                <a16:creationId xmlns:a16="http://schemas.microsoft.com/office/drawing/2014/main" id="{8718F2C1-16AA-4A09-B01C-B784A7967C42}"/>
              </a:ext>
            </a:extLst>
          </p:cNvPr>
          <p:cNvSpPr>
            <a:spLocks noChangeArrowheads="1"/>
          </p:cNvSpPr>
          <p:nvPr/>
        </p:nvSpPr>
        <p:spPr bwMode="auto">
          <a:xfrm>
            <a:off x="1390650" y="3733800"/>
            <a:ext cx="1524000" cy="11430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9379"/>
                                        </p:tgtEl>
                                        <p:attrNameLst>
                                          <p:attrName>style.visibility</p:attrName>
                                        </p:attrNameLst>
                                      </p:cBhvr>
                                      <p:to>
                                        <p:strVal val="visible"/>
                                      </p:to>
                                    </p:set>
                                    <p:animEffect transition="in" filter="wipe(left)">
                                      <p:cBhvr>
                                        <p:cTn id="7" dur="500"/>
                                        <p:tgtEl>
                                          <p:spTgt spid="2293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229380"/>
                                        </p:tgtEl>
                                        <p:attrNameLst>
                                          <p:attrName>style.visibility</p:attrName>
                                        </p:attrNameLst>
                                      </p:cBhvr>
                                      <p:to>
                                        <p:strVal val="visible"/>
                                      </p:to>
                                    </p:set>
                                    <p:anim calcmode="lin" valueType="num">
                                      <p:cBhvr>
                                        <p:cTn id="12" dur="500" fill="hold"/>
                                        <p:tgtEl>
                                          <p:spTgt spid="229380"/>
                                        </p:tgtEl>
                                        <p:attrNameLst>
                                          <p:attrName>ppt_w</p:attrName>
                                        </p:attrNameLst>
                                      </p:cBhvr>
                                      <p:tavLst>
                                        <p:tav tm="0">
                                          <p:val>
                                            <p:fltVal val="0"/>
                                          </p:val>
                                        </p:tav>
                                        <p:tav tm="100000">
                                          <p:val>
                                            <p:strVal val="#ppt_w"/>
                                          </p:val>
                                        </p:tav>
                                      </p:tavLst>
                                    </p:anim>
                                    <p:anim calcmode="lin" valueType="num">
                                      <p:cBhvr>
                                        <p:cTn id="13" dur="500" fill="hold"/>
                                        <p:tgtEl>
                                          <p:spTgt spid="229380"/>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229384"/>
                                        </p:tgtEl>
                                        <p:attrNameLst>
                                          <p:attrName>style.visibility</p:attrName>
                                        </p:attrNameLst>
                                      </p:cBhvr>
                                      <p:to>
                                        <p:strVal val="visible"/>
                                      </p:to>
                                    </p:set>
                                    <p:anim calcmode="lin" valueType="num">
                                      <p:cBhvr>
                                        <p:cTn id="18" dur="500" fill="hold"/>
                                        <p:tgtEl>
                                          <p:spTgt spid="229384"/>
                                        </p:tgtEl>
                                        <p:attrNameLst>
                                          <p:attrName>ppt_w</p:attrName>
                                        </p:attrNameLst>
                                      </p:cBhvr>
                                      <p:tavLst>
                                        <p:tav tm="0">
                                          <p:val>
                                            <p:fltVal val="0"/>
                                          </p:val>
                                        </p:tav>
                                        <p:tav tm="100000">
                                          <p:val>
                                            <p:strVal val="#ppt_w"/>
                                          </p:val>
                                        </p:tav>
                                      </p:tavLst>
                                    </p:anim>
                                    <p:anim calcmode="lin" valueType="num">
                                      <p:cBhvr>
                                        <p:cTn id="19" dur="500" fill="hold"/>
                                        <p:tgtEl>
                                          <p:spTgt spid="22938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animBg="1"/>
      <p:bldP spid="229380" grpId="0" animBg="1"/>
      <p:bldP spid="229384"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9703" name="Object 2">
            <a:extLst>
              <a:ext uri="{FF2B5EF4-FFF2-40B4-BE49-F238E27FC236}">
                <a16:creationId xmlns:a16="http://schemas.microsoft.com/office/drawing/2014/main" id="{E82839A2-C1DD-4B56-B51F-D64A3E64BD4B}"/>
              </a:ext>
            </a:extLst>
          </p:cNvPr>
          <p:cNvGraphicFramePr>
            <a:graphicFrameLocks noChangeAspect="1"/>
          </p:cNvGraphicFramePr>
          <p:nvPr/>
        </p:nvGraphicFramePr>
        <p:xfrm>
          <a:off x="3429000" y="2438400"/>
          <a:ext cx="4622800" cy="1524000"/>
        </p:xfrm>
        <a:graphic>
          <a:graphicData uri="http://schemas.openxmlformats.org/presentationml/2006/ole">
            <mc:AlternateContent xmlns:mc="http://schemas.openxmlformats.org/markup-compatibility/2006">
              <mc:Choice xmlns:v="urn:schemas-microsoft-com:vml" Requires="v">
                <p:oleObj spid="_x0000_s5122" name="Equation" r:id="rId3" imgW="1155700" imgH="381000" progId="Equation.3">
                  <p:embed/>
                </p:oleObj>
              </mc:Choice>
              <mc:Fallback>
                <p:oleObj name="Equation" r:id="rId3" imgW="1155700" imgH="381000" progId="Equation.3">
                  <p:embed/>
                  <p:pic>
                    <p:nvPicPr>
                      <p:cNvPr id="29703" name="Object 2">
                        <a:extLst>
                          <a:ext uri="{FF2B5EF4-FFF2-40B4-BE49-F238E27FC236}">
                            <a16:creationId xmlns:a16="http://schemas.microsoft.com/office/drawing/2014/main" id="{E82839A2-C1DD-4B56-B51F-D64A3E64BD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2438400"/>
                        <a:ext cx="4622800" cy="15240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6">
            <a:extLst>
              <a:ext uri="{FF2B5EF4-FFF2-40B4-BE49-F238E27FC236}">
                <a16:creationId xmlns:a16="http://schemas.microsoft.com/office/drawing/2014/main" id="{93746894-4138-4C94-AA53-0DB4B8675F62}"/>
              </a:ext>
            </a:extLst>
          </p:cNvPr>
          <p:cNvSpPr txBox="1">
            <a:spLocks noChangeArrowheads="1"/>
          </p:cNvSpPr>
          <p:nvPr/>
        </p:nvSpPr>
        <p:spPr bwMode="auto">
          <a:xfrm>
            <a:off x="3644900" y="4017963"/>
            <a:ext cx="5259388" cy="523875"/>
          </a:xfrm>
          <a:prstGeom prst="rect">
            <a:avLst/>
          </a:prstGeom>
          <a:noFill/>
          <a:ln w="9525">
            <a:noFill/>
            <a:miter lim="800000"/>
            <a:headEnd/>
            <a:tailEnd/>
          </a:ln>
        </p:spPr>
        <p:txBody>
          <a:bodyPr>
            <a:spAutoFit/>
          </a:bodyPr>
          <a:lstStyle/>
          <a:p>
            <a:pPr>
              <a:defRPr/>
            </a:pPr>
            <a:r>
              <a:rPr lang="en-US" sz="2800" dirty="0">
                <a:solidFill>
                  <a:srgbClr val="0125FF"/>
                </a:solidFill>
                <a:latin typeface="Arial" charset="0"/>
                <a:ea typeface="+mn-ea"/>
              </a:rPr>
              <a:t>proportion of females at that </a:t>
            </a:r>
            <a:r>
              <a:rPr lang="en-US" sz="2800" dirty="0" err="1">
                <a:solidFill>
                  <a:srgbClr val="0125FF"/>
                </a:solidFill>
                <a:latin typeface="Arial" charset="0"/>
                <a:ea typeface="+mn-ea"/>
              </a:rPr>
              <a:t>Hgt</a:t>
            </a:r>
            <a:endParaRPr lang="en-US" sz="2800" dirty="0">
              <a:solidFill>
                <a:srgbClr val="0125FF"/>
              </a:solidFill>
              <a:latin typeface="Arial" charset="0"/>
              <a:ea typeface="+mn-ea"/>
            </a:endParaRPr>
          </a:p>
        </p:txBody>
      </p:sp>
      <p:sp>
        <p:nvSpPr>
          <p:cNvPr id="7" name="Line 7">
            <a:extLst>
              <a:ext uri="{FF2B5EF4-FFF2-40B4-BE49-F238E27FC236}">
                <a16:creationId xmlns:a16="http://schemas.microsoft.com/office/drawing/2014/main" id="{23C4E583-03E0-4B09-A575-0DB35BEDCEAE}"/>
              </a:ext>
            </a:extLst>
          </p:cNvPr>
          <p:cNvSpPr>
            <a:spLocks noChangeShapeType="1"/>
          </p:cNvSpPr>
          <p:nvPr/>
        </p:nvSpPr>
        <p:spPr bwMode="auto">
          <a:xfrm flipH="1" flipV="1">
            <a:off x="3700463" y="3484563"/>
            <a:ext cx="228600" cy="6858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8" name="Text Box 4">
            <a:extLst>
              <a:ext uri="{FF2B5EF4-FFF2-40B4-BE49-F238E27FC236}">
                <a16:creationId xmlns:a16="http://schemas.microsoft.com/office/drawing/2014/main" id="{50862ABF-38D8-4481-AD9B-271DDC66C7FD}"/>
              </a:ext>
            </a:extLst>
          </p:cNvPr>
          <p:cNvSpPr txBox="1">
            <a:spLocks noChangeArrowheads="1"/>
          </p:cNvSpPr>
          <p:nvPr/>
        </p:nvSpPr>
        <p:spPr bwMode="auto">
          <a:xfrm>
            <a:off x="215900" y="152400"/>
            <a:ext cx="8572500" cy="20621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600" b="1">
                <a:latin typeface="Courier New" panose="02070309020205020404" pitchFamily="49" charset="0"/>
              </a:rPr>
              <a:t>Call:</a:t>
            </a:r>
          </a:p>
          <a:p>
            <a:r>
              <a:rPr lang="en-US" altLang="en-US" sz="1600" b="1">
                <a:latin typeface="Courier New" panose="02070309020205020404" pitchFamily="49" charset="0"/>
              </a:rPr>
              <a:t>glm(formula = Gender ~ Hgt, family = binomial, data = Pulse)</a:t>
            </a:r>
          </a:p>
          <a:p>
            <a:endParaRPr lang="en-US" altLang="en-US" sz="1600" b="1">
              <a:latin typeface="Courier New" panose="02070309020205020404" pitchFamily="49" charset="0"/>
            </a:endParaRPr>
          </a:p>
          <a:p>
            <a:r>
              <a:rPr lang="en-US" altLang="en-US" sz="1600" b="1">
                <a:latin typeface="Courier New" panose="02070309020205020404" pitchFamily="49" charset="0"/>
              </a:rPr>
              <a:t>Coefficients:</a:t>
            </a:r>
          </a:p>
          <a:p>
            <a:r>
              <a:rPr lang="en-US" altLang="en-US" sz="1600" b="1">
                <a:latin typeface="Courier New" panose="02070309020205020404" pitchFamily="49" charset="0"/>
              </a:rPr>
              <a:t>            Estimate Std. Error z value Pr(&gt;|z|)    </a:t>
            </a:r>
          </a:p>
          <a:p>
            <a:r>
              <a:rPr lang="en-US" altLang="en-US" sz="1600" b="1">
                <a:latin typeface="Courier New" panose="02070309020205020404" pitchFamily="49" charset="0"/>
              </a:rPr>
              <a:t>(Intercept)  64.1416     8.3694   7.664 1.81e-14 ***</a:t>
            </a:r>
          </a:p>
          <a:p>
            <a:r>
              <a:rPr lang="en-US" altLang="en-US" sz="1600" b="1">
                <a:latin typeface="Courier New" panose="02070309020205020404" pitchFamily="49" charset="0"/>
              </a:rPr>
              <a:t>Hgt          -0.9424     0.1227  -7.680 1.60e-14***</a:t>
            </a:r>
          </a:p>
          <a:p>
            <a:r>
              <a:rPr lang="en-US" altLang="en-US" sz="1600" b="1">
                <a:latin typeface="Courier New" panose="02070309020205020404" pitchFamily="49" charset="0"/>
              </a:rPr>
              <a:t>---</a:t>
            </a:r>
          </a:p>
        </p:txBody>
      </p:sp>
      <p:sp>
        <p:nvSpPr>
          <p:cNvPr id="9" name="Oval 8">
            <a:extLst>
              <a:ext uri="{FF2B5EF4-FFF2-40B4-BE49-F238E27FC236}">
                <a16:creationId xmlns:a16="http://schemas.microsoft.com/office/drawing/2014/main" id="{E77D24A0-FBC3-47C4-BBA6-6642D2EEB342}"/>
              </a:ext>
            </a:extLst>
          </p:cNvPr>
          <p:cNvSpPr>
            <a:spLocks noChangeArrowheads="1"/>
          </p:cNvSpPr>
          <p:nvPr/>
        </p:nvSpPr>
        <p:spPr bwMode="auto">
          <a:xfrm>
            <a:off x="1482725" y="1041400"/>
            <a:ext cx="1524000" cy="1143000"/>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970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par>
                          <p:cTn id="23" fill="hold" nodeType="afterGroup">
                            <p:stCondLst>
                              <p:cond delay="0"/>
                            </p:stCondLst>
                            <p:childTnLst>
                              <p:par>
                                <p:cTn id="24" presetID="22" presetClass="entr" presetSubtype="4"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05CE7553-B02A-47FF-9517-06BE9A0A0573}"/>
              </a:ext>
            </a:extLst>
          </p:cNvPr>
          <p:cNvSpPr>
            <a:spLocks noGrp="1" noChangeArrowheads="1"/>
          </p:cNvSpPr>
          <p:nvPr>
            <p:ph type="title"/>
          </p:nvPr>
        </p:nvSpPr>
        <p:spPr>
          <a:xfrm>
            <a:off x="304800" y="0"/>
            <a:ext cx="8534400" cy="685800"/>
          </a:xfrm>
          <a:solidFill>
            <a:schemeClr val="bg1"/>
          </a:solidFill>
        </p:spPr>
        <p:txBody>
          <a:bodyPr/>
          <a:lstStyle/>
          <a:p>
            <a:pPr algn="l"/>
            <a:r>
              <a:rPr lang="en-US" altLang="en-US" sz="2800" b="1">
                <a:latin typeface="Courier New" panose="02070309020205020404" pitchFamily="49" charset="0"/>
              </a:rPr>
              <a:t>&gt;</a:t>
            </a:r>
            <a:r>
              <a:rPr lang="en-US" altLang="en-US" sz="2800" b="1">
                <a:solidFill>
                  <a:srgbClr val="FF0000"/>
                </a:solidFill>
                <a:latin typeface="Courier New" panose="02070309020205020404" pitchFamily="49" charset="0"/>
              </a:rPr>
              <a:t> plot(fitted(logitmodel)~Pulse$Hgt)</a:t>
            </a:r>
          </a:p>
        </p:txBody>
      </p:sp>
      <p:pic>
        <p:nvPicPr>
          <p:cNvPr id="30722" name="Picture 1">
            <a:extLst>
              <a:ext uri="{FF2B5EF4-FFF2-40B4-BE49-F238E27FC236}">
                <a16:creationId xmlns:a16="http://schemas.microsoft.com/office/drawing/2014/main" id="{1AFBCCA5-B082-424A-818E-169A128AAD6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4638" y="714375"/>
            <a:ext cx="5511800"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AA05D5DD-327B-4440-8467-436EC6CCE926}"/>
              </a:ext>
            </a:extLst>
          </p:cNvPr>
          <p:cNvSpPr>
            <a:spLocks noGrp="1" noChangeArrowheads="1"/>
          </p:cNvSpPr>
          <p:nvPr>
            <p:ph type="title"/>
          </p:nvPr>
        </p:nvSpPr>
        <p:spPr>
          <a:xfrm>
            <a:off x="0" y="0"/>
            <a:ext cx="9144000" cy="914400"/>
          </a:xfrm>
          <a:solidFill>
            <a:schemeClr val="bg1"/>
          </a:solidFill>
        </p:spPr>
        <p:txBody>
          <a:bodyPr/>
          <a:lstStyle/>
          <a:p>
            <a:pPr algn="l"/>
            <a:r>
              <a:rPr lang="en-US" altLang="en-US" sz="2000" b="1">
                <a:latin typeface="Courier New" panose="02070309020205020404" pitchFamily="49" charset="0"/>
              </a:rPr>
              <a:t>&gt;</a:t>
            </a:r>
            <a:r>
              <a:rPr lang="en-US" altLang="en-US" sz="2000" b="1">
                <a:solidFill>
                  <a:srgbClr val="FF0000"/>
                </a:solidFill>
                <a:latin typeface="Courier New" panose="02070309020205020404" pitchFamily="49" charset="0"/>
              </a:rPr>
              <a:t> with(Pulse,plot(Hgt,jitter(Gender,amount=0.05)))</a:t>
            </a:r>
            <a:br>
              <a:rPr lang="en-US" altLang="en-US" sz="2000" b="1">
                <a:solidFill>
                  <a:srgbClr val="FF0000"/>
                </a:solidFill>
                <a:latin typeface="Courier New" panose="02070309020205020404" pitchFamily="49" charset="0"/>
              </a:rPr>
            </a:br>
            <a:r>
              <a:rPr lang="en-US" altLang="en-US" sz="2000" b="1">
                <a:latin typeface="Courier New" panose="02070309020205020404" pitchFamily="49" charset="0"/>
              </a:rPr>
              <a:t>&gt;</a:t>
            </a:r>
            <a:r>
              <a:rPr lang="en-US" altLang="en-US" sz="2000" b="1">
                <a:solidFill>
                  <a:srgbClr val="FF0000"/>
                </a:solidFill>
                <a:latin typeface="Courier New" panose="02070309020205020404" pitchFamily="49" charset="0"/>
              </a:rPr>
              <a:t> curve(exp(64.1-0.94*x)/(1+exp(64.1-0.94*x)), add=TRUE)</a:t>
            </a:r>
          </a:p>
        </p:txBody>
      </p:sp>
      <p:pic>
        <p:nvPicPr>
          <p:cNvPr id="32770" name="Picture 3">
            <a:extLst>
              <a:ext uri="{FF2B5EF4-FFF2-40B4-BE49-F238E27FC236}">
                <a16:creationId xmlns:a16="http://schemas.microsoft.com/office/drawing/2014/main" id="{B8334639-95F2-4DD1-AA72-2AE8B3793D5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990600"/>
            <a:ext cx="5953125" cy="426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BF682B-F13C-418A-ABA2-5F017E00347C}"/>
              </a:ext>
            </a:extLst>
          </p:cNvPr>
          <p:cNvSpPr>
            <a:spLocks noGrp="1"/>
          </p:cNvSpPr>
          <p:nvPr>
            <p:ph idx="1"/>
          </p:nvPr>
        </p:nvSpPr>
        <p:spPr/>
        <p:txBody>
          <a:bodyPr/>
          <a:lstStyle/>
          <a:p>
            <a:r>
              <a:rPr lang="en-US" dirty="0"/>
              <a:t>[1] </a:t>
            </a:r>
            <a:r>
              <a:rPr lang="en-US" dirty="0">
                <a:hlinkClick r:id="rId2"/>
              </a:rPr>
              <a:t>https://www.ibm.com/ae-en/topics/logistic-regression</a:t>
            </a:r>
            <a:endParaRPr lang="en-US" dirty="0"/>
          </a:p>
          <a:p>
            <a:r>
              <a:rPr lang="en-US" dirty="0"/>
              <a:t>[2] Slides by </a:t>
            </a:r>
            <a:r>
              <a:rPr lang="en-US"/>
              <a:t>Jeff Witmer: </a:t>
            </a:r>
            <a:r>
              <a:rPr lang="en-US">
                <a:hlinkClick r:id="rId3"/>
              </a:rPr>
              <a:t>https://www.oberlin.edu/jeff-witmer</a:t>
            </a:r>
            <a:r>
              <a:rPr lang="en-US"/>
              <a:t> </a:t>
            </a:r>
          </a:p>
        </p:txBody>
      </p:sp>
      <p:sp>
        <p:nvSpPr>
          <p:cNvPr id="3" name="Title 2">
            <a:extLst>
              <a:ext uri="{FF2B5EF4-FFF2-40B4-BE49-F238E27FC236}">
                <a16:creationId xmlns:a16="http://schemas.microsoft.com/office/drawing/2014/main" id="{5A8F123D-595F-45A5-B381-DE2669C78073}"/>
              </a:ext>
            </a:extLst>
          </p:cNvPr>
          <p:cNvSpPr>
            <a:spLocks noGrp="1"/>
          </p:cNvSpPr>
          <p:nvPr>
            <p:ph type="title"/>
          </p:nvPr>
        </p:nvSpPr>
        <p:spPr/>
        <p:txBody>
          <a:bodyPr/>
          <a:lstStyle/>
          <a:p>
            <a:r>
              <a:rPr lang="en-US" dirty="0"/>
              <a:t>References</a:t>
            </a:r>
          </a:p>
        </p:txBody>
      </p:sp>
    </p:spTree>
    <p:extLst>
      <p:ext uri="{BB962C8B-B14F-4D97-AF65-F5344CB8AC3E}">
        <p14:creationId xmlns:p14="http://schemas.microsoft.com/office/powerpoint/2010/main" val="2822448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Bye </a:t>
            </a:r>
            <a:r>
              <a:rPr lang="en-US" dirty="0" err="1"/>
              <a:t>Bye</a:t>
            </a:r>
            <a:r>
              <a:rPr lang="en-US" dirty="0"/>
              <a:t>!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1218717377"/>
      </p:ext>
    </p:extLst>
  </p:cSld>
  <p:clrMapOvr>
    <a:masterClrMapping/>
  </p:clrMapOvr>
</p:sld>
</file>

<file path=ppt/theme/theme1.xml><?xml version="1.0" encoding="utf-8"?>
<a:theme xmlns:a="http://schemas.openxmlformats.org/drawingml/2006/main" name="UOWD v3">
  <a:themeElements>
    <a:clrScheme name="uowd">
      <a:dk1>
        <a:srgbClr val="0C2340"/>
      </a:dk1>
      <a:lt1>
        <a:sysClr val="window" lastClr="FFFFFF"/>
      </a:lt1>
      <a:dk2>
        <a:srgbClr val="0033CC"/>
      </a:dk2>
      <a:lt2>
        <a:srgbClr val="E10600"/>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uowd_v3</Template>
  <TotalTime>2013</TotalTime>
  <Words>1551</Words>
  <Application>Microsoft Office PowerPoint</Application>
  <PresentationFormat>On-screen Show (4:3)</PresentationFormat>
  <Paragraphs>98</Paragraphs>
  <Slides>18</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18</vt:i4>
      </vt:variant>
    </vt:vector>
  </HeadingPairs>
  <TitlesOfParts>
    <vt:vector size="29" baseType="lpstr">
      <vt:lpstr>MS PGothic</vt:lpstr>
      <vt:lpstr>MS PGothic</vt:lpstr>
      <vt:lpstr>Arial</vt:lpstr>
      <vt:lpstr>Calibri</vt:lpstr>
      <vt:lpstr>Courier New</vt:lpstr>
      <vt:lpstr>Times New Roman</vt:lpstr>
      <vt:lpstr>Verdana</vt:lpstr>
      <vt:lpstr>Wingdings</vt:lpstr>
      <vt:lpstr>UOWD v3</vt:lpstr>
      <vt:lpstr>Equation</vt:lpstr>
      <vt:lpstr>Microsoft Equation</vt:lpstr>
      <vt:lpstr>Logistic Regression Classifiers</vt:lpstr>
      <vt:lpstr>What is logistic regression?</vt:lpstr>
      <vt:lpstr>Ensemble Learning</vt:lpstr>
      <vt:lpstr>Interpreting logistic regression</vt:lpstr>
      <vt:lpstr>Types of Logistic Regression</vt:lpstr>
      <vt:lpstr>Logistic regression and machine learning</vt:lpstr>
      <vt:lpstr>Categorical Response Variables</vt:lpstr>
      <vt:lpstr>Example: Height predicts Gender</vt:lpstr>
      <vt:lpstr>PowerPoint Presentation</vt:lpstr>
      <vt:lpstr>π = Proportion of “Success”</vt:lpstr>
      <vt:lpstr>Binary Logistic Regression Model</vt:lpstr>
      <vt:lpstr>Logit Function</vt:lpstr>
      <vt:lpstr>Binary Logistic Regression via R</vt:lpstr>
      <vt:lpstr>PowerPoint Presentation</vt:lpstr>
      <vt:lpstr>&gt; plot(fitted(logitmodel)~Pulse$Hgt)</vt:lpstr>
      <vt:lpstr>&gt; with(Pulse,plot(Hgt,jitter(Gender,amount=0.05))) &gt; curve(exp(64.1-0.94*x)/(1+exp(64.1-0.94*x)), add=TRUE)</vt:lpstr>
      <vt:lpstr>References</vt:lpstr>
      <vt:lpstr>Bye Bye!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Lorain Manoj</dc:creator>
  <cp:lastModifiedBy>Farhad Oroumchian</cp:lastModifiedBy>
  <cp:revision>62</cp:revision>
  <dcterms:created xsi:type="dcterms:W3CDTF">2017-03-16T10:23:20Z</dcterms:created>
  <dcterms:modified xsi:type="dcterms:W3CDTF">2023-02-09T13:38:57Z</dcterms:modified>
</cp:coreProperties>
</file>